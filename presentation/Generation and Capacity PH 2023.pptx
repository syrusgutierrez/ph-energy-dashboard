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embeddedFontLst>
    <p:embeddedFont>
      <p:font typeface="Poppins" panose="020B0502040204020203" pitchFamily="2" charset="0"/>
      <p:regular r:id="rId15"/>
      <p:bold r:id="rId16"/>
      <p:italic r:id="rId17"/>
      <p:boldItalic r:id="rId18"/>
    </p:embeddedFont>
    <p:embeddedFont>
      <p:font typeface="Roboto" panose="02000000000000000000" pitchFamily="2" charset="0"/>
      <p:regular r:id="rId19"/>
      <p:bold r:id="rId20"/>
      <p:italic r:id="rId21"/>
      <p:boldItalic r:id="rId22"/>
    </p:embeddedFont>
    <p:embeddedFont>
      <p:font typeface="Segoe UI" panose="020B0502040204020203" pitchFamily="3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3A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5" d="100"/>
          <a:sy n="125" d="100"/>
        </p:scale>
        <p:origin x="1038" y="3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c6f9e470d_0_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c6f9e470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a0e1b90147_0_2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a0e1b90147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a0e1b90147_0_68: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a0e1b90147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a0e1b90147_0_5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a0e1b90147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9e1f2673ef_2_26: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9e1f2673ef_2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c6f9e470d_0_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c6f9e470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9e1f2673ef_2_4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9e1f2673ef_2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9fb639307c_0_2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9fb639307c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9fca7827d2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9fca7827d2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a3b21f3da3_0_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a3b21f3da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a0e1b90147_0_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a0e1b90147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a0dc1b8bba_0_56: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a0dc1b8bba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 name="Google Shape;40;p5"/>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1" name="Google Shape;41;p5"/>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2" name="Google Shape;42;p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 name="Google Shape;45;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8" name="Google Shape;48;p7"/>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9" name="Google Shape;49;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57;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58" name="Google Shape;58;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 name="Google Shape;6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3" name="Google Shape;63;p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4" name="Google Shape;6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65" name="Google Shape;65;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68" name="Google Shape;68;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11"/>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1600"/>
              </a:spcBef>
              <a:spcAft>
                <a:spcPts val="0"/>
              </a:spcAft>
              <a:buClr>
                <a:schemeClr val="lt1"/>
              </a:buClr>
              <a:buSzPts val="1400"/>
              <a:buChar char="○"/>
              <a:defRPr>
                <a:solidFill>
                  <a:schemeClr val="lt1"/>
                </a:solidFill>
              </a:defRPr>
            </a:lvl2pPr>
            <a:lvl3pPr marL="1371600" lvl="2" indent="-317500" algn="ctr">
              <a:spcBef>
                <a:spcPts val="1600"/>
              </a:spcBef>
              <a:spcAft>
                <a:spcPts val="0"/>
              </a:spcAft>
              <a:buClr>
                <a:schemeClr val="lt1"/>
              </a:buClr>
              <a:buSzPts val="1400"/>
              <a:buChar char="■"/>
              <a:defRPr>
                <a:solidFill>
                  <a:schemeClr val="lt1"/>
                </a:solidFill>
              </a:defRPr>
            </a:lvl3pPr>
            <a:lvl4pPr marL="1828800" lvl="3" indent="-317500" algn="ctr">
              <a:spcBef>
                <a:spcPts val="1600"/>
              </a:spcBef>
              <a:spcAft>
                <a:spcPts val="0"/>
              </a:spcAft>
              <a:buClr>
                <a:schemeClr val="lt1"/>
              </a:buClr>
              <a:buSzPts val="1400"/>
              <a:buChar char="●"/>
              <a:defRPr>
                <a:solidFill>
                  <a:schemeClr val="lt1"/>
                </a:solidFill>
              </a:defRPr>
            </a:lvl4pPr>
            <a:lvl5pPr marL="2286000" lvl="4" indent="-317500" algn="ctr">
              <a:spcBef>
                <a:spcPts val="1600"/>
              </a:spcBef>
              <a:spcAft>
                <a:spcPts val="0"/>
              </a:spcAft>
              <a:buClr>
                <a:schemeClr val="lt1"/>
              </a:buClr>
              <a:buSzPts val="1400"/>
              <a:buChar char="○"/>
              <a:defRPr>
                <a:solidFill>
                  <a:schemeClr val="lt1"/>
                </a:solidFill>
              </a:defRPr>
            </a:lvl5pPr>
            <a:lvl6pPr marL="2743200" lvl="5" indent="-317500" algn="ctr">
              <a:spcBef>
                <a:spcPts val="1600"/>
              </a:spcBef>
              <a:spcAft>
                <a:spcPts val="0"/>
              </a:spcAft>
              <a:buClr>
                <a:schemeClr val="lt1"/>
              </a:buClr>
              <a:buSzPts val="1400"/>
              <a:buChar char="■"/>
              <a:defRPr>
                <a:solidFill>
                  <a:schemeClr val="lt1"/>
                </a:solidFill>
              </a:defRPr>
            </a:lvl6pPr>
            <a:lvl7pPr marL="3200400" lvl="6" indent="-317500" algn="ctr">
              <a:spcBef>
                <a:spcPts val="1600"/>
              </a:spcBef>
              <a:spcAft>
                <a:spcPts val="0"/>
              </a:spcAft>
              <a:buClr>
                <a:schemeClr val="lt1"/>
              </a:buClr>
              <a:buSzPts val="1400"/>
              <a:buChar char="●"/>
              <a:defRPr>
                <a:solidFill>
                  <a:schemeClr val="lt1"/>
                </a:solidFill>
              </a:defRPr>
            </a:lvl7pPr>
            <a:lvl8pPr marL="3657600" lvl="7" indent="-317500" algn="ctr">
              <a:spcBef>
                <a:spcPts val="1600"/>
              </a:spcBef>
              <a:spcAft>
                <a:spcPts val="0"/>
              </a:spcAft>
              <a:buClr>
                <a:schemeClr val="lt1"/>
              </a:buClr>
              <a:buSzPts val="1400"/>
              <a:buChar char="○"/>
              <a:defRPr>
                <a:solidFill>
                  <a:schemeClr val="lt1"/>
                </a:solidFill>
              </a:defRPr>
            </a:lvl8pPr>
            <a:lvl9pPr marL="4114800" lvl="8" indent="-317500" algn="ctr">
              <a:spcBef>
                <a:spcPts val="1600"/>
              </a:spcBef>
              <a:spcAft>
                <a:spcPts val="1600"/>
              </a:spcAft>
              <a:buClr>
                <a:schemeClr val="lt1"/>
              </a:buClr>
              <a:buSzPts val="1400"/>
              <a:buChar char="■"/>
              <a:defRPr>
                <a:solidFill>
                  <a:schemeClr val="lt1"/>
                </a:solidFill>
              </a:defRPr>
            </a:lvl9pPr>
          </a:lstStyle>
          <a:p>
            <a:endParaRPr/>
          </a:p>
        </p:txBody>
      </p:sp>
      <p:sp>
        <p:nvSpPr>
          <p:cNvPr id="78" name="Google Shape;78;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
        <p:nvSpPr>
          <p:cNvPr id="80" name="Google Shape;80;p1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hyperlink" Target="https://legacy.doe.gov.ph/sites/default/files/pdf/energy_statistics/02_Installed%20and%20Dependable%20Capacity_2023.pdf" TargetMode="External"/><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hyperlink" Target="https://legacy.doe.gov.ph/sites/default/files/pdf/energy_statistics/03_2023_Gross_Generation_per_Grid_and_per_technology_rev2.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CF0"/>
        </a:solidFill>
        <a:effectLst/>
      </p:bgPr>
    </p:bg>
    <p:spTree>
      <p:nvGrpSpPr>
        <p:cNvPr id="1" name="Shape 84"/>
        <p:cNvGrpSpPr/>
        <p:nvPr/>
      </p:nvGrpSpPr>
      <p:grpSpPr>
        <a:xfrm>
          <a:off x="0" y="0"/>
          <a:ext cx="0" cy="0"/>
          <a:chOff x="0" y="0"/>
          <a:chExt cx="0" cy="0"/>
        </a:xfrm>
      </p:grpSpPr>
      <p:sp>
        <p:nvSpPr>
          <p:cNvPr id="85" name="Google Shape;85;p13"/>
          <p:cNvSpPr txBox="1">
            <a:spLocks noGrp="1"/>
          </p:cNvSpPr>
          <p:nvPr>
            <p:ph type="ctrTitle"/>
          </p:nvPr>
        </p:nvSpPr>
        <p:spPr>
          <a:xfrm>
            <a:off x="57550" y="1502550"/>
            <a:ext cx="5553600" cy="2138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900" b="1">
                <a:solidFill>
                  <a:srgbClr val="000000"/>
                </a:solidFill>
                <a:latin typeface="Poppins"/>
                <a:ea typeface="Poppins"/>
                <a:cs typeface="Poppins"/>
                <a:sym typeface="Poppins"/>
              </a:rPr>
              <a:t>Philippine Energy </a:t>
            </a:r>
            <a:endParaRPr sz="3900" b="1">
              <a:solidFill>
                <a:srgbClr val="000000"/>
              </a:solidFill>
              <a:latin typeface="Poppins"/>
              <a:ea typeface="Poppins"/>
              <a:cs typeface="Poppins"/>
              <a:sym typeface="Poppins"/>
            </a:endParaRPr>
          </a:p>
          <a:p>
            <a:pPr marL="0" lvl="0" indent="0" algn="l" rtl="0">
              <a:spcBef>
                <a:spcPts val="0"/>
              </a:spcBef>
              <a:spcAft>
                <a:spcPts val="0"/>
              </a:spcAft>
              <a:buNone/>
            </a:pPr>
            <a:r>
              <a:rPr lang="en" sz="3900" b="1">
                <a:solidFill>
                  <a:srgbClr val="000000"/>
                </a:solidFill>
                <a:latin typeface="Poppins"/>
                <a:ea typeface="Poppins"/>
                <a:cs typeface="Poppins"/>
                <a:sym typeface="Poppins"/>
              </a:rPr>
              <a:t>Landscape: </a:t>
            </a:r>
            <a:endParaRPr sz="3900" b="1">
              <a:solidFill>
                <a:srgbClr val="000000"/>
              </a:solidFill>
              <a:latin typeface="Poppins"/>
              <a:ea typeface="Poppins"/>
              <a:cs typeface="Poppins"/>
              <a:sym typeface="Poppins"/>
            </a:endParaRPr>
          </a:p>
          <a:p>
            <a:pPr marL="0" lvl="0" indent="0" algn="l" rtl="0">
              <a:spcBef>
                <a:spcPts val="0"/>
              </a:spcBef>
              <a:spcAft>
                <a:spcPts val="0"/>
              </a:spcAft>
              <a:buNone/>
            </a:pPr>
            <a:r>
              <a:rPr lang="en" sz="2600" b="1">
                <a:solidFill>
                  <a:schemeClr val="dk1"/>
                </a:solidFill>
                <a:latin typeface="Poppins"/>
                <a:ea typeface="Poppins"/>
                <a:cs typeface="Poppins"/>
                <a:sym typeface="Poppins"/>
              </a:rPr>
              <a:t>Transitioning Towards </a:t>
            </a:r>
            <a:endParaRPr sz="2600" b="1">
              <a:solidFill>
                <a:schemeClr val="dk1"/>
              </a:solidFill>
              <a:latin typeface="Poppins"/>
              <a:ea typeface="Poppins"/>
              <a:cs typeface="Poppins"/>
              <a:sym typeface="Poppins"/>
            </a:endParaRPr>
          </a:p>
          <a:p>
            <a:pPr marL="0" lvl="0" indent="0" algn="l" rtl="0">
              <a:spcBef>
                <a:spcPts val="0"/>
              </a:spcBef>
              <a:spcAft>
                <a:spcPts val="0"/>
              </a:spcAft>
              <a:buNone/>
            </a:pPr>
            <a:r>
              <a:rPr lang="en" sz="2600" b="1">
                <a:solidFill>
                  <a:schemeClr val="dk1"/>
                </a:solidFill>
                <a:latin typeface="Poppins"/>
                <a:ea typeface="Poppins"/>
                <a:cs typeface="Poppins"/>
                <a:sym typeface="Poppins"/>
              </a:rPr>
              <a:t>Renewable Energy</a:t>
            </a:r>
            <a:endParaRPr sz="2600" b="1">
              <a:solidFill>
                <a:schemeClr val="dk1"/>
              </a:solidFill>
              <a:latin typeface="Poppins"/>
              <a:ea typeface="Poppins"/>
              <a:cs typeface="Poppins"/>
              <a:sym typeface="Poppins"/>
            </a:endParaRPr>
          </a:p>
          <a:p>
            <a:pPr marL="0" lvl="0" indent="0" algn="l" rtl="0">
              <a:spcBef>
                <a:spcPts val="0"/>
              </a:spcBef>
              <a:spcAft>
                <a:spcPts val="0"/>
              </a:spcAft>
              <a:buNone/>
            </a:pPr>
            <a:endParaRPr sz="1100" b="1">
              <a:solidFill>
                <a:schemeClr val="dk1"/>
              </a:solidFill>
              <a:latin typeface="Poppins"/>
              <a:ea typeface="Poppins"/>
              <a:cs typeface="Poppins"/>
              <a:sym typeface="Poppins"/>
            </a:endParaRPr>
          </a:p>
          <a:p>
            <a:pPr marL="0" lvl="0" indent="0" algn="l" rtl="0">
              <a:spcBef>
                <a:spcPts val="0"/>
              </a:spcBef>
              <a:spcAft>
                <a:spcPts val="0"/>
              </a:spcAft>
              <a:buNone/>
            </a:pPr>
            <a:r>
              <a:rPr lang="en" sz="1100" b="1">
                <a:solidFill>
                  <a:srgbClr val="000000"/>
                </a:solidFill>
                <a:latin typeface="Poppins"/>
                <a:ea typeface="Poppins"/>
                <a:cs typeface="Poppins"/>
                <a:sym typeface="Poppins"/>
              </a:rPr>
              <a:t>A 20-Year Look at Electricity Generation &amp; Installed Capacity (2003–2023)</a:t>
            </a:r>
            <a:endParaRPr sz="1100" b="1">
              <a:solidFill>
                <a:srgbClr val="000000"/>
              </a:solidFill>
              <a:latin typeface="Poppins"/>
              <a:ea typeface="Poppins"/>
              <a:cs typeface="Poppins"/>
              <a:sym typeface="Poppins"/>
            </a:endParaRPr>
          </a:p>
        </p:txBody>
      </p:sp>
      <p:pic>
        <p:nvPicPr>
          <p:cNvPr id="86" name="Google Shape;86;p13" title="vecteezy_renewable-energy-with-green-energy-as-wind-turbines-and_23358432.png"/>
          <p:cNvPicPr preferRelativeResize="0"/>
          <p:nvPr/>
        </p:nvPicPr>
        <p:blipFill>
          <a:blip r:embed="rId3">
            <a:alphaModFix/>
          </a:blip>
          <a:stretch>
            <a:fillRect/>
          </a:stretch>
        </p:blipFill>
        <p:spPr>
          <a:xfrm>
            <a:off x="5216225" y="1215725"/>
            <a:ext cx="3927777" cy="3927777"/>
          </a:xfrm>
          <a:prstGeom prst="rect">
            <a:avLst/>
          </a:prstGeom>
          <a:noFill/>
          <a:ln>
            <a:noFill/>
          </a:ln>
        </p:spPr>
      </p:pic>
      <p:sp>
        <p:nvSpPr>
          <p:cNvPr id="87" name="Google Shape;87;p13"/>
          <p:cNvSpPr txBox="1"/>
          <p:nvPr/>
        </p:nvSpPr>
        <p:spPr>
          <a:xfrm>
            <a:off x="57550" y="4497975"/>
            <a:ext cx="3776700" cy="352500"/>
          </a:xfrm>
          <a:prstGeom prst="rect">
            <a:avLst/>
          </a:prstGeom>
          <a:solidFill>
            <a:schemeClr val="dk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lt1"/>
                </a:solidFill>
                <a:latin typeface="Poppins"/>
                <a:ea typeface="Poppins"/>
                <a:cs typeface="Poppins"/>
                <a:sym typeface="Poppins"/>
              </a:rPr>
              <a:t>DATA ANALYTICS PORTFOLIO | SYRUS MAC GUTIERREZ</a:t>
            </a:r>
            <a:endParaRPr sz="1100">
              <a:solidFill>
                <a:schemeClr val="lt1"/>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CF0"/>
        </a:solidFill>
        <a:effectLst/>
      </p:bgPr>
    </p:bg>
    <p:spTree>
      <p:nvGrpSpPr>
        <p:cNvPr id="1" name="Shape 91"/>
        <p:cNvGrpSpPr/>
        <p:nvPr/>
      </p:nvGrpSpPr>
      <p:grpSpPr>
        <a:xfrm>
          <a:off x="0" y="0"/>
          <a:ext cx="0" cy="0"/>
          <a:chOff x="0" y="0"/>
          <a:chExt cx="0" cy="0"/>
        </a:xfrm>
      </p:grpSpPr>
      <p:sp>
        <p:nvSpPr>
          <p:cNvPr id="92" name="Google Shape;92;p14"/>
          <p:cNvSpPr txBox="1"/>
          <p:nvPr/>
        </p:nvSpPr>
        <p:spPr>
          <a:xfrm>
            <a:off x="1831200" y="362850"/>
            <a:ext cx="5481600" cy="62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300" b="1">
                <a:solidFill>
                  <a:schemeClr val="dk2"/>
                </a:solidFill>
                <a:latin typeface="Poppins"/>
                <a:ea typeface="Poppins"/>
                <a:cs typeface="Poppins"/>
                <a:sym typeface="Poppins"/>
              </a:rPr>
              <a:t>Philippines’ </a:t>
            </a:r>
            <a:r>
              <a:rPr lang="en" sz="3300" b="1">
                <a:solidFill>
                  <a:schemeClr val="dk1"/>
                </a:solidFill>
                <a:latin typeface="Poppins"/>
                <a:ea typeface="Poppins"/>
                <a:cs typeface="Poppins"/>
                <a:sym typeface="Poppins"/>
              </a:rPr>
              <a:t>Background</a:t>
            </a:r>
            <a:endParaRPr sz="3300" b="1">
              <a:solidFill>
                <a:schemeClr val="dk1"/>
              </a:solidFill>
              <a:latin typeface="Poppins"/>
              <a:ea typeface="Poppins"/>
              <a:cs typeface="Poppins"/>
              <a:sym typeface="Poppins"/>
            </a:endParaRPr>
          </a:p>
        </p:txBody>
      </p:sp>
      <p:sp>
        <p:nvSpPr>
          <p:cNvPr id="93" name="Google Shape;93;p14"/>
          <p:cNvSpPr/>
          <p:nvPr/>
        </p:nvSpPr>
        <p:spPr>
          <a:xfrm>
            <a:off x="1142300" y="1150825"/>
            <a:ext cx="3465600" cy="1335000"/>
          </a:xfrm>
          <a:prstGeom prst="roundRect">
            <a:avLst>
              <a:gd name="adj" fmla="val 8122"/>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spcBef>
                <a:spcPts val="0"/>
              </a:spcBef>
              <a:spcAft>
                <a:spcPts val="0"/>
              </a:spcAft>
              <a:buNone/>
            </a:pPr>
            <a:r>
              <a:rPr lang="en" sz="1800">
                <a:solidFill>
                  <a:schemeClr val="lt1"/>
                </a:solidFill>
                <a:latin typeface="Poppins"/>
                <a:ea typeface="Poppins"/>
                <a:cs typeface="Poppins"/>
                <a:sym typeface="Poppins"/>
              </a:rPr>
              <a:t>The Philippines’ electricity demand has grown rapidly across all major island grids in recent decades.</a:t>
            </a:r>
            <a:endParaRPr>
              <a:latin typeface="Roboto"/>
              <a:ea typeface="Roboto"/>
              <a:cs typeface="Roboto"/>
              <a:sym typeface="Roboto"/>
            </a:endParaRPr>
          </a:p>
        </p:txBody>
      </p:sp>
      <p:sp>
        <p:nvSpPr>
          <p:cNvPr id="94" name="Google Shape;94;p14"/>
          <p:cNvSpPr/>
          <p:nvPr/>
        </p:nvSpPr>
        <p:spPr>
          <a:xfrm>
            <a:off x="1142300" y="2600525"/>
            <a:ext cx="3465600" cy="1792200"/>
          </a:xfrm>
          <a:prstGeom prst="roundRect">
            <a:avLst>
              <a:gd name="adj" fmla="val 8122"/>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spcBef>
                <a:spcPts val="0"/>
              </a:spcBef>
              <a:spcAft>
                <a:spcPts val="0"/>
              </a:spcAft>
              <a:buNone/>
            </a:pPr>
            <a:r>
              <a:rPr lang="en" sz="1800">
                <a:solidFill>
                  <a:schemeClr val="lt1"/>
                </a:solidFill>
                <a:latin typeface="Poppins"/>
                <a:ea typeface="Poppins"/>
                <a:cs typeface="Poppins"/>
                <a:sym typeface="Poppins"/>
              </a:rPr>
              <a:t>Renewable energy capacity has expanded steadily nationwide, but coal growth still heavily dominates the overall power mix.</a:t>
            </a:r>
            <a:endParaRPr sz="1800">
              <a:solidFill>
                <a:schemeClr val="lt1"/>
              </a:solidFill>
              <a:latin typeface="Poppins"/>
              <a:ea typeface="Poppins"/>
              <a:cs typeface="Poppins"/>
              <a:sym typeface="Poppins"/>
            </a:endParaRPr>
          </a:p>
        </p:txBody>
      </p:sp>
      <p:sp>
        <p:nvSpPr>
          <p:cNvPr id="95" name="Google Shape;95;p14"/>
          <p:cNvSpPr/>
          <p:nvPr/>
        </p:nvSpPr>
        <p:spPr>
          <a:xfrm>
            <a:off x="4823775" y="1150825"/>
            <a:ext cx="3182700" cy="1740900"/>
          </a:xfrm>
          <a:prstGeom prst="roundRect">
            <a:avLst>
              <a:gd name="adj" fmla="val 8122"/>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spcBef>
                <a:spcPts val="0"/>
              </a:spcBef>
              <a:spcAft>
                <a:spcPts val="0"/>
              </a:spcAft>
              <a:buNone/>
            </a:pPr>
            <a:r>
              <a:rPr lang="en" sz="1800">
                <a:solidFill>
                  <a:schemeClr val="lt1"/>
                </a:solidFill>
                <a:latin typeface="Poppins"/>
                <a:ea typeface="Poppins"/>
                <a:cs typeface="Poppins"/>
                <a:sym typeface="Poppins"/>
              </a:rPr>
              <a:t>Growing demand and sustainability concerns are shaping the country’s shift toward cleaner energy.</a:t>
            </a:r>
            <a:endParaRPr sz="1800">
              <a:solidFill>
                <a:schemeClr val="lt1"/>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CF0"/>
        </a:solidFill>
        <a:effectLst/>
      </p:bgPr>
    </p:bg>
    <p:spTree>
      <p:nvGrpSpPr>
        <p:cNvPr id="1" name="Shape 99"/>
        <p:cNvGrpSpPr/>
        <p:nvPr/>
      </p:nvGrpSpPr>
      <p:grpSpPr>
        <a:xfrm>
          <a:off x="0" y="0"/>
          <a:ext cx="0" cy="0"/>
          <a:chOff x="0" y="0"/>
          <a:chExt cx="0" cy="0"/>
        </a:xfrm>
      </p:grpSpPr>
      <p:sp>
        <p:nvSpPr>
          <p:cNvPr id="100" name="Google Shape;100;p15"/>
          <p:cNvSpPr txBox="1"/>
          <p:nvPr/>
        </p:nvSpPr>
        <p:spPr>
          <a:xfrm>
            <a:off x="2962650" y="204800"/>
            <a:ext cx="3218700" cy="62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300" b="1">
                <a:solidFill>
                  <a:schemeClr val="dk2"/>
                </a:solidFill>
                <a:latin typeface="Poppins"/>
                <a:ea typeface="Poppins"/>
                <a:cs typeface="Poppins"/>
                <a:sym typeface="Poppins"/>
              </a:rPr>
              <a:t>Project </a:t>
            </a:r>
            <a:r>
              <a:rPr lang="en" sz="3300" b="1">
                <a:solidFill>
                  <a:schemeClr val="dk1"/>
                </a:solidFill>
                <a:latin typeface="Poppins"/>
                <a:ea typeface="Poppins"/>
                <a:cs typeface="Poppins"/>
                <a:sym typeface="Poppins"/>
              </a:rPr>
              <a:t>Scope</a:t>
            </a:r>
            <a:endParaRPr sz="3300" b="1">
              <a:solidFill>
                <a:schemeClr val="dk1"/>
              </a:solidFill>
              <a:latin typeface="Poppins"/>
              <a:ea typeface="Poppins"/>
              <a:cs typeface="Poppins"/>
              <a:sym typeface="Poppins"/>
            </a:endParaRPr>
          </a:p>
        </p:txBody>
      </p:sp>
      <p:sp>
        <p:nvSpPr>
          <p:cNvPr id="101" name="Google Shape;101;p15"/>
          <p:cNvSpPr/>
          <p:nvPr/>
        </p:nvSpPr>
        <p:spPr>
          <a:xfrm>
            <a:off x="923550" y="1100650"/>
            <a:ext cx="7296900" cy="3078000"/>
          </a:xfrm>
          <a:prstGeom prst="roundRect">
            <a:avLst>
              <a:gd name="adj" fmla="val 16667"/>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594360" lvl="0" indent="-594360" algn="l" rtl="0">
              <a:spcBef>
                <a:spcPts val="0"/>
              </a:spcBef>
              <a:spcAft>
                <a:spcPts val="0"/>
              </a:spcAft>
              <a:buNone/>
            </a:pPr>
            <a:r>
              <a:rPr lang="en" sz="2100" b="1">
                <a:solidFill>
                  <a:schemeClr val="lt1"/>
                </a:solidFill>
                <a:latin typeface="Poppins"/>
                <a:ea typeface="Poppins"/>
                <a:cs typeface="Poppins"/>
                <a:sym typeface="Poppins"/>
              </a:rPr>
              <a:t>01</a:t>
            </a:r>
            <a:r>
              <a:rPr lang="en">
                <a:solidFill>
                  <a:schemeClr val="lt1"/>
                </a:solidFill>
                <a:latin typeface="Poppins"/>
                <a:ea typeface="Poppins"/>
                <a:cs typeface="Poppins"/>
                <a:sym typeface="Poppins"/>
              </a:rPr>
              <a:t>	Uses DOE historical energy generation and installed capacity data (2003–2023).</a:t>
            </a:r>
            <a:endParaRPr sz="1700">
              <a:solidFill>
                <a:schemeClr val="lt1"/>
              </a:solidFill>
              <a:latin typeface="Poppins"/>
              <a:ea typeface="Poppins"/>
              <a:cs typeface="Poppins"/>
              <a:sym typeface="Poppins"/>
            </a:endParaRPr>
          </a:p>
          <a:p>
            <a:pPr marL="411480" lvl="0" indent="-411480" algn="l" rtl="0">
              <a:spcBef>
                <a:spcPts val="0"/>
              </a:spcBef>
              <a:spcAft>
                <a:spcPts val="0"/>
              </a:spcAft>
              <a:buNone/>
            </a:pPr>
            <a:endParaRPr>
              <a:solidFill>
                <a:schemeClr val="lt1"/>
              </a:solidFill>
              <a:latin typeface="Poppins"/>
              <a:ea typeface="Poppins"/>
              <a:cs typeface="Poppins"/>
              <a:sym typeface="Poppins"/>
            </a:endParaRPr>
          </a:p>
          <a:p>
            <a:pPr marL="594360" lvl="0" indent="-594360" algn="l" rtl="0">
              <a:spcBef>
                <a:spcPts val="0"/>
              </a:spcBef>
              <a:spcAft>
                <a:spcPts val="0"/>
              </a:spcAft>
              <a:buNone/>
            </a:pPr>
            <a:r>
              <a:rPr lang="en" sz="2000" b="1">
                <a:solidFill>
                  <a:schemeClr val="lt1"/>
                </a:solidFill>
                <a:latin typeface="Poppins"/>
                <a:ea typeface="Poppins"/>
                <a:cs typeface="Poppins"/>
                <a:sym typeface="Poppins"/>
              </a:rPr>
              <a:t>02</a:t>
            </a:r>
            <a:r>
              <a:rPr lang="en">
                <a:solidFill>
                  <a:schemeClr val="lt1"/>
                </a:solidFill>
                <a:latin typeface="Poppins"/>
                <a:ea typeface="Poppins"/>
                <a:cs typeface="Poppins"/>
                <a:sym typeface="Poppins"/>
              </a:rPr>
              <a:t>	Compares renewable vs. non-renewable energy trends across Luzon, Visayas, and Mindanao.</a:t>
            </a:r>
            <a:endParaRPr sz="1700">
              <a:solidFill>
                <a:schemeClr val="lt1"/>
              </a:solidFill>
              <a:latin typeface="Poppins"/>
              <a:ea typeface="Poppins"/>
              <a:cs typeface="Poppins"/>
              <a:sym typeface="Poppins"/>
            </a:endParaRPr>
          </a:p>
          <a:p>
            <a:pPr marL="914400" lvl="0" indent="0" algn="l" rtl="0">
              <a:spcBef>
                <a:spcPts val="0"/>
              </a:spcBef>
              <a:spcAft>
                <a:spcPts val="0"/>
              </a:spcAft>
              <a:buNone/>
            </a:pPr>
            <a:endParaRPr>
              <a:solidFill>
                <a:schemeClr val="lt1"/>
              </a:solidFill>
              <a:latin typeface="Poppins"/>
              <a:ea typeface="Poppins"/>
              <a:cs typeface="Poppins"/>
              <a:sym typeface="Poppins"/>
            </a:endParaRPr>
          </a:p>
          <a:p>
            <a:pPr marL="594360" lvl="0" indent="-594360" algn="l" rtl="0">
              <a:spcBef>
                <a:spcPts val="0"/>
              </a:spcBef>
              <a:spcAft>
                <a:spcPts val="0"/>
              </a:spcAft>
              <a:buNone/>
            </a:pPr>
            <a:r>
              <a:rPr lang="en" sz="2000" b="1">
                <a:solidFill>
                  <a:schemeClr val="lt1"/>
                </a:solidFill>
                <a:latin typeface="Poppins"/>
                <a:ea typeface="Poppins"/>
                <a:cs typeface="Poppins"/>
                <a:sym typeface="Poppins"/>
              </a:rPr>
              <a:t>03</a:t>
            </a:r>
            <a:r>
              <a:rPr lang="en">
                <a:solidFill>
                  <a:schemeClr val="lt1"/>
                </a:solidFill>
                <a:latin typeface="Poppins"/>
                <a:ea typeface="Poppins"/>
                <a:cs typeface="Poppins"/>
                <a:sym typeface="Poppins"/>
              </a:rPr>
              <a:t>	Examines how generation growth relates to installed capacity</a:t>
            </a:r>
            <a:endParaRPr sz="1700">
              <a:solidFill>
                <a:schemeClr val="lt1"/>
              </a:solidFill>
              <a:latin typeface="Poppins"/>
              <a:ea typeface="Poppins"/>
              <a:cs typeface="Poppins"/>
              <a:sym typeface="Poppins"/>
            </a:endParaRPr>
          </a:p>
          <a:p>
            <a:pPr marL="914400" lvl="0" indent="0" algn="l" rtl="0">
              <a:spcBef>
                <a:spcPts val="0"/>
              </a:spcBef>
              <a:spcAft>
                <a:spcPts val="0"/>
              </a:spcAft>
              <a:buNone/>
            </a:pPr>
            <a:endParaRPr>
              <a:solidFill>
                <a:schemeClr val="lt1"/>
              </a:solidFill>
              <a:latin typeface="Poppins"/>
              <a:ea typeface="Poppins"/>
              <a:cs typeface="Poppins"/>
              <a:sym typeface="Poppins"/>
            </a:endParaRPr>
          </a:p>
          <a:p>
            <a:pPr marL="594360" lvl="0" indent="-594360" algn="l" rtl="0">
              <a:spcBef>
                <a:spcPts val="0"/>
              </a:spcBef>
              <a:spcAft>
                <a:spcPts val="0"/>
              </a:spcAft>
              <a:buNone/>
            </a:pPr>
            <a:r>
              <a:rPr lang="en" sz="2000" b="1">
                <a:solidFill>
                  <a:schemeClr val="lt1"/>
                </a:solidFill>
                <a:latin typeface="Poppins"/>
                <a:ea typeface="Poppins"/>
                <a:cs typeface="Poppins"/>
                <a:sym typeface="Poppins"/>
              </a:rPr>
              <a:t>04</a:t>
            </a:r>
            <a:r>
              <a:rPr lang="en">
                <a:solidFill>
                  <a:schemeClr val="lt1"/>
                </a:solidFill>
                <a:latin typeface="Poppins"/>
                <a:ea typeface="Poppins"/>
                <a:cs typeface="Poppins"/>
                <a:sym typeface="Poppins"/>
              </a:rPr>
              <a:t>	Focuses on clear storytelling using historical energy data (no cost or policy modeling)</a:t>
            </a:r>
            <a:endParaRPr>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CF0"/>
        </a:solidFill>
        <a:effectLst/>
      </p:bgPr>
    </p:bg>
    <p:spTree>
      <p:nvGrpSpPr>
        <p:cNvPr id="1" name="Shape 105"/>
        <p:cNvGrpSpPr/>
        <p:nvPr/>
      </p:nvGrpSpPr>
      <p:grpSpPr>
        <a:xfrm>
          <a:off x="0" y="0"/>
          <a:ext cx="0" cy="0"/>
          <a:chOff x="0" y="0"/>
          <a:chExt cx="0" cy="0"/>
        </a:xfrm>
      </p:grpSpPr>
      <p:sp>
        <p:nvSpPr>
          <p:cNvPr id="106" name="Google Shape;106;p16"/>
          <p:cNvSpPr txBox="1"/>
          <p:nvPr/>
        </p:nvSpPr>
        <p:spPr>
          <a:xfrm>
            <a:off x="2329500" y="341525"/>
            <a:ext cx="4485000" cy="62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300" b="1">
                <a:solidFill>
                  <a:schemeClr val="dk2"/>
                </a:solidFill>
                <a:latin typeface="Poppins"/>
                <a:ea typeface="Poppins"/>
                <a:cs typeface="Poppins"/>
                <a:sym typeface="Poppins"/>
              </a:rPr>
              <a:t>Problem </a:t>
            </a:r>
            <a:r>
              <a:rPr lang="en" sz="3300" b="1">
                <a:solidFill>
                  <a:schemeClr val="dk1"/>
                </a:solidFill>
                <a:latin typeface="Poppins"/>
                <a:ea typeface="Poppins"/>
                <a:cs typeface="Poppins"/>
                <a:sym typeface="Poppins"/>
              </a:rPr>
              <a:t>Statement</a:t>
            </a:r>
            <a:endParaRPr sz="3300" b="1">
              <a:solidFill>
                <a:schemeClr val="dk1"/>
              </a:solidFill>
              <a:latin typeface="Poppins"/>
              <a:ea typeface="Poppins"/>
              <a:cs typeface="Poppins"/>
              <a:sym typeface="Poppins"/>
            </a:endParaRPr>
          </a:p>
        </p:txBody>
      </p:sp>
      <p:sp>
        <p:nvSpPr>
          <p:cNvPr id="107" name="Google Shape;107;p16"/>
          <p:cNvSpPr/>
          <p:nvPr/>
        </p:nvSpPr>
        <p:spPr>
          <a:xfrm>
            <a:off x="1078950" y="1302050"/>
            <a:ext cx="6986100" cy="2431500"/>
          </a:xfrm>
          <a:prstGeom prst="roundRect">
            <a:avLst>
              <a:gd name="adj" fmla="val 16667"/>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spcBef>
                <a:spcPts val="0"/>
              </a:spcBef>
              <a:spcAft>
                <a:spcPts val="0"/>
              </a:spcAft>
              <a:buNone/>
            </a:pPr>
            <a:r>
              <a:rPr lang="en" sz="2100">
                <a:solidFill>
                  <a:schemeClr val="lt1"/>
                </a:solidFill>
                <a:latin typeface="Poppins"/>
                <a:ea typeface="Poppins"/>
                <a:cs typeface="Poppins"/>
                <a:sym typeface="Poppins"/>
              </a:rPr>
              <a:t>The Philippines still relies heavily on coal even as electricity demand continues to rise. By analyzing 20 years of DOE data, this project shows how the energy mix has shifted, how renewables are performing, and where improvement is still needed.</a:t>
            </a:r>
            <a:endParaRPr>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CF0"/>
        </a:solidFill>
        <a:effectLst/>
      </p:bgPr>
    </p:bg>
    <p:spTree>
      <p:nvGrpSpPr>
        <p:cNvPr id="1" name="Shape 111"/>
        <p:cNvGrpSpPr/>
        <p:nvPr/>
      </p:nvGrpSpPr>
      <p:grpSpPr>
        <a:xfrm>
          <a:off x="0" y="0"/>
          <a:ext cx="0" cy="0"/>
          <a:chOff x="0" y="0"/>
          <a:chExt cx="0" cy="0"/>
        </a:xfrm>
      </p:grpSpPr>
      <p:sp>
        <p:nvSpPr>
          <p:cNvPr id="112" name="Google Shape;112;p17"/>
          <p:cNvSpPr txBox="1"/>
          <p:nvPr/>
        </p:nvSpPr>
        <p:spPr>
          <a:xfrm>
            <a:off x="530438" y="55100"/>
            <a:ext cx="5099100" cy="54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b="1">
                <a:solidFill>
                  <a:schemeClr val="dk2"/>
                </a:solidFill>
                <a:latin typeface="Poppins"/>
                <a:ea typeface="Poppins"/>
                <a:cs typeface="Poppins"/>
                <a:sym typeface="Poppins"/>
              </a:rPr>
              <a:t>Philippine Energy Mix in </a:t>
            </a:r>
            <a:r>
              <a:rPr lang="en" sz="2100" b="1">
                <a:solidFill>
                  <a:schemeClr val="dk1"/>
                </a:solidFill>
                <a:latin typeface="Poppins"/>
                <a:ea typeface="Poppins"/>
                <a:cs typeface="Poppins"/>
                <a:sym typeface="Poppins"/>
              </a:rPr>
              <a:t>2023</a:t>
            </a:r>
            <a:endParaRPr sz="2100" b="1">
              <a:solidFill>
                <a:schemeClr val="dk1"/>
              </a:solidFill>
              <a:latin typeface="Poppins"/>
              <a:ea typeface="Poppins"/>
              <a:cs typeface="Poppins"/>
              <a:sym typeface="Poppins"/>
            </a:endParaRPr>
          </a:p>
        </p:txBody>
      </p:sp>
      <p:sp>
        <p:nvSpPr>
          <p:cNvPr id="113" name="Google Shape;113;p17"/>
          <p:cNvSpPr txBox="1"/>
          <p:nvPr/>
        </p:nvSpPr>
        <p:spPr>
          <a:xfrm flipH="1">
            <a:off x="530450" y="4397025"/>
            <a:ext cx="4234500" cy="523200"/>
          </a:xfrm>
          <a:prstGeom prst="rect">
            <a:avLst/>
          </a:prstGeom>
          <a:solidFill>
            <a:schemeClr val="lt1"/>
          </a:solidFill>
          <a:ln w="19050"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chemeClr val="dk1"/>
                </a:solidFill>
                <a:latin typeface="Poppins"/>
                <a:ea typeface="Poppins"/>
                <a:cs typeface="Poppins"/>
                <a:sym typeface="Poppins"/>
              </a:rPr>
              <a:t>Breakdown of electricity generation by source, showing strong reliance on fossil fuels.</a:t>
            </a:r>
            <a:endParaRPr sz="1100">
              <a:solidFill>
                <a:schemeClr val="dk1"/>
              </a:solidFill>
              <a:latin typeface="Poppins"/>
              <a:ea typeface="Poppins"/>
              <a:cs typeface="Poppins"/>
              <a:sym typeface="Poppins"/>
            </a:endParaRPr>
          </a:p>
        </p:txBody>
      </p:sp>
      <p:grpSp>
        <p:nvGrpSpPr>
          <p:cNvPr id="114" name="Google Shape;114;p17"/>
          <p:cNvGrpSpPr/>
          <p:nvPr/>
        </p:nvGrpSpPr>
        <p:grpSpPr>
          <a:xfrm>
            <a:off x="5003648" y="1862983"/>
            <a:ext cx="3456602" cy="1214392"/>
            <a:chOff x="4957923" y="1995758"/>
            <a:chExt cx="3456602" cy="1214392"/>
          </a:xfrm>
        </p:grpSpPr>
        <p:sp>
          <p:nvSpPr>
            <p:cNvPr id="115" name="Google Shape;115;p17"/>
            <p:cNvSpPr txBox="1"/>
            <p:nvPr/>
          </p:nvSpPr>
          <p:spPr>
            <a:xfrm>
              <a:off x="4957923" y="1995758"/>
              <a:ext cx="3456600" cy="6912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82325" tIns="82325" rIns="82325" bIns="82325" anchor="t" anchorCtr="0">
              <a:noAutofit/>
            </a:bodyPr>
            <a:lstStyle/>
            <a:p>
              <a:pPr marL="411787" lvl="0" indent="-267543" algn="l" rtl="0">
                <a:spcBef>
                  <a:spcPts val="0"/>
                </a:spcBef>
                <a:spcAft>
                  <a:spcPts val="0"/>
                </a:spcAft>
                <a:buClr>
                  <a:schemeClr val="lt1"/>
                </a:buClr>
                <a:buSzPts val="971"/>
                <a:buFont typeface="Poppins"/>
                <a:buChar char="●"/>
              </a:pPr>
              <a:r>
                <a:rPr lang="en" sz="1200">
                  <a:solidFill>
                    <a:schemeClr val="lt1"/>
                  </a:solidFill>
                  <a:latin typeface="Poppins"/>
                  <a:ea typeface="Poppins"/>
                  <a:cs typeface="Poppins"/>
                  <a:sym typeface="Poppins"/>
                </a:rPr>
                <a:t>Coal remains the largest source of electricity in 2023, making up more than half of the national grid.</a:t>
              </a:r>
              <a:endParaRPr sz="970">
                <a:solidFill>
                  <a:schemeClr val="lt1"/>
                </a:solidFill>
                <a:latin typeface="Poppins"/>
                <a:ea typeface="Poppins"/>
                <a:cs typeface="Poppins"/>
                <a:sym typeface="Poppins"/>
              </a:endParaRPr>
            </a:p>
          </p:txBody>
        </p:sp>
        <p:sp>
          <p:nvSpPr>
            <p:cNvPr id="116" name="Google Shape;116;p17"/>
            <p:cNvSpPr txBox="1"/>
            <p:nvPr/>
          </p:nvSpPr>
          <p:spPr>
            <a:xfrm>
              <a:off x="4957925" y="2686950"/>
              <a:ext cx="3456600" cy="5232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82325" tIns="82325" rIns="82325" bIns="82325" anchor="t" anchorCtr="0">
              <a:noAutofit/>
            </a:bodyPr>
            <a:lstStyle/>
            <a:p>
              <a:pPr marL="411787" lvl="0" indent="-278918" algn="l" rtl="0">
                <a:spcBef>
                  <a:spcPts val="0"/>
                </a:spcBef>
                <a:spcAft>
                  <a:spcPts val="0"/>
                </a:spcAft>
                <a:buClr>
                  <a:schemeClr val="dk1"/>
                </a:buClr>
                <a:buSzPts val="1150"/>
                <a:buFont typeface="Poppins"/>
                <a:buChar char="●"/>
              </a:pPr>
              <a:r>
                <a:rPr lang="en" sz="1150">
                  <a:solidFill>
                    <a:schemeClr val="dk1"/>
                  </a:solidFill>
                  <a:latin typeface="Poppins"/>
                  <a:ea typeface="Poppins"/>
                  <a:cs typeface="Poppins"/>
                  <a:sym typeface="Poppins"/>
                </a:rPr>
                <a:t>Fossil fuels still supply majority of energy, highlighting need for transition.</a:t>
              </a:r>
              <a:endParaRPr sz="1150">
                <a:solidFill>
                  <a:schemeClr val="dk1"/>
                </a:solidFill>
                <a:latin typeface="Poppins"/>
                <a:ea typeface="Poppins"/>
                <a:cs typeface="Poppins"/>
                <a:sym typeface="Poppins"/>
              </a:endParaRPr>
            </a:p>
          </p:txBody>
        </p:sp>
      </p:grpSp>
      <p:pic>
        <p:nvPicPr>
          <p:cNvPr id="117" name="Google Shape;117;p17"/>
          <p:cNvPicPr preferRelativeResize="0"/>
          <p:nvPr/>
        </p:nvPicPr>
        <p:blipFill>
          <a:blip r:embed="rId3">
            <a:alphaModFix/>
          </a:blip>
          <a:stretch>
            <a:fillRect/>
          </a:stretch>
        </p:blipFill>
        <p:spPr>
          <a:xfrm>
            <a:off x="544575" y="598388"/>
            <a:ext cx="4206240" cy="3743554"/>
          </a:xfrm>
          <a:prstGeom prst="rect">
            <a:avLst/>
          </a:prstGeom>
          <a:noFill/>
          <a:ln w="19050" cap="flat" cmpd="sng">
            <a:solidFill>
              <a:schemeClr val="dk2"/>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CF0"/>
        </a:solidFill>
        <a:effectLst/>
      </p:bgPr>
    </p:bg>
    <p:spTree>
      <p:nvGrpSpPr>
        <p:cNvPr id="1" name="Shape 121"/>
        <p:cNvGrpSpPr/>
        <p:nvPr/>
      </p:nvGrpSpPr>
      <p:grpSpPr>
        <a:xfrm>
          <a:off x="0" y="0"/>
          <a:ext cx="0" cy="0"/>
          <a:chOff x="0" y="0"/>
          <a:chExt cx="0" cy="0"/>
        </a:xfrm>
      </p:grpSpPr>
      <p:sp>
        <p:nvSpPr>
          <p:cNvPr id="122" name="Google Shape;122;p18"/>
          <p:cNvSpPr txBox="1"/>
          <p:nvPr/>
        </p:nvSpPr>
        <p:spPr>
          <a:xfrm>
            <a:off x="131063" y="530950"/>
            <a:ext cx="5099100" cy="54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b="1">
                <a:solidFill>
                  <a:schemeClr val="dk2"/>
                </a:solidFill>
                <a:latin typeface="Poppins"/>
                <a:ea typeface="Poppins"/>
                <a:cs typeface="Poppins"/>
                <a:sym typeface="Poppins"/>
              </a:rPr>
              <a:t>Total Energy Generation </a:t>
            </a:r>
            <a:r>
              <a:rPr lang="en" sz="2100" b="1">
                <a:solidFill>
                  <a:schemeClr val="dk1"/>
                </a:solidFill>
                <a:latin typeface="Poppins"/>
                <a:ea typeface="Poppins"/>
                <a:cs typeface="Poppins"/>
                <a:sym typeface="Poppins"/>
              </a:rPr>
              <a:t>Trends</a:t>
            </a:r>
            <a:endParaRPr sz="2100" b="1">
              <a:solidFill>
                <a:schemeClr val="dk1"/>
              </a:solidFill>
              <a:latin typeface="Poppins"/>
              <a:ea typeface="Poppins"/>
              <a:cs typeface="Poppins"/>
              <a:sym typeface="Poppins"/>
            </a:endParaRPr>
          </a:p>
        </p:txBody>
      </p:sp>
      <p:sp>
        <p:nvSpPr>
          <p:cNvPr id="123" name="Google Shape;123;p18"/>
          <p:cNvSpPr txBox="1"/>
          <p:nvPr/>
        </p:nvSpPr>
        <p:spPr>
          <a:xfrm>
            <a:off x="6179775" y="2289725"/>
            <a:ext cx="2884800" cy="731700"/>
          </a:xfrm>
          <a:prstGeom prst="rect">
            <a:avLst/>
          </a:prstGeom>
          <a:solidFill>
            <a:schemeClr val="dk1"/>
          </a:solidFill>
          <a:ln>
            <a:noFill/>
          </a:ln>
        </p:spPr>
        <p:txBody>
          <a:bodyPr spcFirstLastPara="1" wrap="square" lIns="82325" tIns="82325" rIns="82325" bIns="82325" anchor="t" anchorCtr="0">
            <a:noAutofit/>
          </a:bodyPr>
          <a:lstStyle/>
          <a:p>
            <a:pPr marL="285750" lvl="0" indent="-302950" algn="l" rtl="0">
              <a:spcBef>
                <a:spcPts val="0"/>
              </a:spcBef>
              <a:spcAft>
                <a:spcPts val="0"/>
              </a:spcAft>
              <a:buClr>
                <a:schemeClr val="lt1"/>
              </a:buClr>
              <a:buSzPts val="1171"/>
              <a:buFont typeface="Poppins"/>
              <a:buChar char="●"/>
            </a:pPr>
            <a:r>
              <a:rPr lang="en" sz="1170">
                <a:solidFill>
                  <a:schemeClr val="lt1"/>
                </a:solidFill>
                <a:latin typeface="Poppins"/>
                <a:ea typeface="Poppins"/>
                <a:cs typeface="Poppins"/>
                <a:sym typeface="Poppins"/>
              </a:rPr>
              <a:t>Luzon’s electricity generation accelerated sharply after 2010, driven largely by coal expansion.</a:t>
            </a:r>
            <a:endParaRPr sz="1170">
              <a:solidFill>
                <a:schemeClr val="lt1"/>
              </a:solidFill>
              <a:latin typeface="Poppins"/>
              <a:ea typeface="Poppins"/>
              <a:cs typeface="Poppins"/>
              <a:sym typeface="Poppins"/>
            </a:endParaRPr>
          </a:p>
        </p:txBody>
      </p:sp>
      <p:pic>
        <p:nvPicPr>
          <p:cNvPr id="124" name="Google Shape;124;p18"/>
          <p:cNvPicPr preferRelativeResize="0"/>
          <p:nvPr/>
        </p:nvPicPr>
        <p:blipFill>
          <a:blip r:embed="rId3">
            <a:alphaModFix/>
          </a:blip>
          <a:stretch>
            <a:fillRect/>
          </a:stretch>
        </p:blipFill>
        <p:spPr>
          <a:xfrm>
            <a:off x="131063" y="1074250"/>
            <a:ext cx="5843016" cy="3162648"/>
          </a:xfrm>
          <a:prstGeom prst="rect">
            <a:avLst/>
          </a:prstGeom>
          <a:noFill/>
          <a:ln w="19050" cap="flat" cmpd="sng">
            <a:solidFill>
              <a:schemeClr val="dk2"/>
            </a:solidFill>
            <a:prstDash val="solid"/>
            <a:round/>
            <a:headEnd type="none" w="sm" len="sm"/>
            <a:tailEnd type="none" w="sm" len="sm"/>
          </a:ln>
        </p:spPr>
      </p:pic>
      <p:grpSp>
        <p:nvGrpSpPr>
          <p:cNvPr id="125" name="Google Shape;125;p18"/>
          <p:cNvGrpSpPr/>
          <p:nvPr/>
        </p:nvGrpSpPr>
        <p:grpSpPr>
          <a:xfrm>
            <a:off x="2407699" y="1484478"/>
            <a:ext cx="3444291" cy="1762357"/>
            <a:chOff x="6726032" y="503446"/>
            <a:chExt cx="3202800" cy="1344900"/>
          </a:xfrm>
        </p:grpSpPr>
        <p:sp>
          <p:nvSpPr>
            <p:cNvPr id="126" name="Google Shape;126;p18"/>
            <p:cNvSpPr/>
            <p:nvPr/>
          </p:nvSpPr>
          <p:spPr>
            <a:xfrm>
              <a:off x="6726032" y="503446"/>
              <a:ext cx="3202800" cy="1344900"/>
            </a:xfrm>
            <a:prstGeom prst="rect">
              <a:avLst/>
            </a:prstGeom>
            <a:noFill/>
            <a:ln w="10250" cap="flat" cmpd="sng">
              <a:solidFill>
                <a:schemeClr val="dk2"/>
              </a:solidFill>
              <a:prstDash val="dash"/>
              <a:round/>
              <a:headEnd type="none" w="sm" len="sm"/>
              <a:tailEnd type="none" w="sm" len="sm"/>
            </a:ln>
          </p:spPr>
          <p:txBody>
            <a:bodyPr spcFirstLastPara="1" wrap="square" lIns="98325" tIns="98325" rIns="98325" bIns="98325" anchor="ctr" anchorCtr="0">
              <a:noAutofit/>
            </a:bodyPr>
            <a:lstStyle/>
            <a:p>
              <a:pPr marL="0" lvl="0" indent="0" algn="ctr" rtl="0">
                <a:spcBef>
                  <a:spcPts val="0"/>
                </a:spcBef>
                <a:spcAft>
                  <a:spcPts val="0"/>
                </a:spcAft>
                <a:buNone/>
              </a:pPr>
              <a:endParaRPr sz="1505">
                <a:highlight>
                  <a:schemeClr val="dk1"/>
                </a:highlight>
                <a:latin typeface="Roboto"/>
                <a:ea typeface="Roboto"/>
                <a:cs typeface="Roboto"/>
                <a:sym typeface="Roboto"/>
              </a:endParaRPr>
            </a:p>
          </p:txBody>
        </p:sp>
        <p:cxnSp>
          <p:nvCxnSpPr>
            <p:cNvPr id="127" name="Google Shape;127;p18"/>
            <p:cNvCxnSpPr/>
            <p:nvPr/>
          </p:nvCxnSpPr>
          <p:spPr>
            <a:xfrm rot="10800000" flipH="1">
              <a:off x="6909275" y="969280"/>
              <a:ext cx="2694600" cy="698700"/>
            </a:xfrm>
            <a:prstGeom prst="straightConnector1">
              <a:avLst/>
            </a:prstGeom>
            <a:noFill/>
            <a:ln w="10250" cap="flat" cmpd="sng">
              <a:solidFill>
                <a:schemeClr val="dk1"/>
              </a:solidFill>
              <a:prstDash val="solid"/>
              <a:round/>
              <a:headEnd type="none" w="med" len="med"/>
              <a:tailEnd type="triangle" w="med" len="med"/>
            </a:ln>
          </p:spPr>
        </p:cxn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CF0"/>
        </a:solidFill>
        <a:effectLst/>
      </p:bgPr>
    </p:bg>
    <p:spTree>
      <p:nvGrpSpPr>
        <p:cNvPr id="1" name="Shape 131"/>
        <p:cNvGrpSpPr/>
        <p:nvPr/>
      </p:nvGrpSpPr>
      <p:grpSpPr>
        <a:xfrm>
          <a:off x="0" y="0"/>
          <a:ext cx="0" cy="0"/>
          <a:chOff x="0" y="0"/>
          <a:chExt cx="0" cy="0"/>
        </a:xfrm>
      </p:grpSpPr>
      <p:sp>
        <p:nvSpPr>
          <p:cNvPr id="132" name="Google Shape;132;p19"/>
          <p:cNvSpPr txBox="1"/>
          <p:nvPr/>
        </p:nvSpPr>
        <p:spPr>
          <a:xfrm>
            <a:off x="305863" y="421675"/>
            <a:ext cx="5099100" cy="54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b="1">
                <a:solidFill>
                  <a:schemeClr val="dk2"/>
                </a:solidFill>
                <a:latin typeface="Poppins"/>
                <a:ea typeface="Poppins"/>
                <a:cs typeface="Poppins"/>
                <a:sym typeface="Poppins"/>
              </a:rPr>
              <a:t>Renewable Energy </a:t>
            </a:r>
            <a:r>
              <a:rPr lang="en" sz="2100" b="1">
                <a:solidFill>
                  <a:schemeClr val="dk1"/>
                </a:solidFill>
                <a:latin typeface="Poppins"/>
                <a:ea typeface="Poppins"/>
                <a:cs typeface="Poppins"/>
                <a:sym typeface="Poppins"/>
              </a:rPr>
              <a:t>Share </a:t>
            </a:r>
            <a:endParaRPr sz="2100" b="1">
              <a:solidFill>
                <a:schemeClr val="dk1"/>
              </a:solidFill>
              <a:latin typeface="Poppins"/>
              <a:ea typeface="Poppins"/>
              <a:cs typeface="Poppins"/>
              <a:sym typeface="Poppins"/>
            </a:endParaRPr>
          </a:p>
        </p:txBody>
      </p:sp>
      <p:grpSp>
        <p:nvGrpSpPr>
          <p:cNvPr id="133" name="Google Shape;133;p19"/>
          <p:cNvGrpSpPr/>
          <p:nvPr/>
        </p:nvGrpSpPr>
        <p:grpSpPr>
          <a:xfrm>
            <a:off x="5574300" y="2088213"/>
            <a:ext cx="3314700" cy="1228212"/>
            <a:chOff x="5635750" y="1768813"/>
            <a:chExt cx="3314700" cy="1228212"/>
          </a:xfrm>
        </p:grpSpPr>
        <p:sp>
          <p:nvSpPr>
            <p:cNvPr id="134" name="Google Shape;134;p19"/>
            <p:cNvSpPr txBox="1"/>
            <p:nvPr/>
          </p:nvSpPr>
          <p:spPr>
            <a:xfrm>
              <a:off x="5635750" y="2337325"/>
              <a:ext cx="3314700" cy="6597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82325" tIns="82325" rIns="82325" bIns="82325" anchor="t" anchorCtr="0">
              <a:noAutofit/>
            </a:bodyPr>
            <a:lstStyle/>
            <a:p>
              <a:pPr marL="411787" lvl="0" indent="-280243" algn="l" rtl="0">
                <a:spcBef>
                  <a:spcPts val="0"/>
                </a:spcBef>
                <a:spcAft>
                  <a:spcPts val="0"/>
                </a:spcAft>
                <a:buClr>
                  <a:schemeClr val="dk1"/>
                </a:buClr>
                <a:buSzPts val="1171"/>
                <a:buFont typeface="Poppins"/>
                <a:buChar char="●"/>
              </a:pPr>
              <a:r>
                <a:rPr lang="en" sz="1170">
                  <a:solidFill>
                    <a:schemeClr val="dk1"/>
                  </a:solidFill>
                  <a:latin typeface="Poppins"/>
                  <a:ea typeface="Poppins"/>
                  <a:cs typeface="Poppins"/>
                  <a:sym typeface="Poppins"/>
                </a:rPr>
                <a:t>Renewables grew in output, but their share dropped as coal expanded faster.</a:t>
              </a:r>
              <a:endParaRPr sz="1170">
                <a:solidFill>
                  <a:schemeClr val="dk1"/>
                </a:solidFill>
                <a:latin typeface="Poppins"/>
                <a:ea typeface="Poppins"/>
                <a:cs typeface="Poppins"/>
                <a:sym typeface="Poppins"/>
              </a:endParaRPr>
            </a:p>
          </p:txBody>
        </p:sp>
        <p:sp>
          <p:nvSpPr>
            <p:cNvPr id="135" name="Google Shape;135;p19"/>
            <p:cNvSpPr txBox="1"/>
            <p:nvPr/>
          </p:nvSpPr>
          <p:spPr>
            <a:xfrm>
              <a:off x="5635750" y="1768813"/>
              <a:ext cx="3314700" cy="5685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82325" tIns="82325" rIns="82325" bIns="82325" anchor="t" anchorCtr="0">
              <a:noAutofit/>
            </a:bodyPr>
            <a:lstStyle/>
            <a:p>
              <a:pPr marL="411787" lvl="0" indent="-280243" algn="l" rtl="0">
                <a:spcBef>
                  <a:spcPts val="0"/>
                </a:spcBef>
                <a:spcAft>
                  <a:spcPts val="0"/>
                </a:spcAft>
                <a:buClr>
                  <a:schemeClr val="lt1"/>
                </a:buClr>
                <a:buSzPts val="1171"/>
                <a:buFont typeface="Poppins"/>
                <a:buChar char="●"/>
              </a:pPr>
              <a:r>
                <a:rPr lang="en" sz="1170">
                  <a:solidFill>
                    <a:schemeClr val="lt1"/>
                  </a:solidFill>
                  <a:latin typeface="Poppins"/>
                  <a:ea typeface="Poppins"/>
                  <a:cs typeface="Poppins"/>
                  <a:sym typeface="Poppins"/>
                </a:rPr>
                <a:t>Renewable share fell from 33.4% to 22.3% (2003–2023).</a:t>
              </a:r>
              <a:endParaRPr sz="1170">
                <a:solidFill>
                  <a:schemeClr val="lt1"/>
                </a:solidFill>
                <a:latin typeface="Poppins"/>
                <a:ea typeface="Poppins"/>
                <a:cs typeface="Poppins"/>
                <a:sym typeface="Poppins"/>
              </a:endParaRPr>
            </a:p>
          </p:txBody>
        </p:sp>
      </p:grpSp>
      <p:pic>
        <p:nvPicPr>
          <p:cNvPr id="136" name="Google Shape;136;p19"/>
          <p:cNvPicPr preferRelativeResize="0"/>
          <p:nvPr/>
        </p:nvPicPr>
        <p:blipFill>
          <a:blip r:embed="rId3">
            <a:alphaModFix/>
          </a:blip>
          <a:stretch>
            <a:fillRect/>
          </a:stretch>
        </p:blipFill>
        <p:spPr>
          <a:xfrm>
            <a:off x="327109" y="964963"/>
            <a:ext cx="5056632" cy="3474719"/>
          </a:xfrm>
          <a:prstGeom prst="rect">
            <a:avLst/>
          </a:prstGeom>
          <a:noFill/>
          <a:ln w="19050" cap="flat" cmpd="sng">
            <a:solidFill>
              <a:schemeClr val="dk2"/>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CF0"/>
        </a:solidFill>
        <a:effectLst/>
      </p:bgPr>
    </p:bg>
    <p:spTree>
      <p:nvGrpSpPr>
        <p:cNvPr id="1" name="Shape 140"/>
        <p:cNvGrpSpPr/>
        <p:nvPr/>
      </p:nvGrpSpPr>
      <p:grpSpPr>
        <a:xfrm>
          <a:off x="0" y="0"/>
          <a:ext cx="0" cy="0"/>
          <a:chOff x="0" y="0"/>
          <a:chExt cx="0" cy="0"/>
        </a:xfrm>
      </p:grpSpPr>
      <p:sp>
        <p:nvSpPr>
          <p:cNvPr id="141" name="Google Shape;141;p20"/>
          <p:cNvSpPr txBox="1"/>
          <p:nvPr/>
        </p:nvSpPr>
        <p:spPr>
          <a:xfrm>
            <a:off x="87275" y="3893275"/>
            <a:ext cx="3986700" cy="6975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82325" tIns="82325" rIns="82325" bIns="82325" anchor="t" anchorCtr="0">
            <a:noAutofit/>
          </a:bodyPr>
          <a:lstStyle/>
          <a:p>
            <a:pPr marL="0" lvl="0" indent="0" algn="l" rtl="0">
              <a:spcBef>
                <a:spcPts val="0"/>
              </a:spcBef>
              <a:spcAft>
                <a:spcPts val="0"/>
              </a:spcAft>
              <a:buNone/>
            </a:pPr>
            <a:r>
              <a:rPr lang="en" sz="1170">
                <a:solidFill>
                  <a:schemeClr val="lt1"/>
                </a:solidFill>
                <a:latin typeface="Poppins"/>
                <a:ea typeface="Poppins"/>
                <a:cs typeface="Poppins"/>
                <a:sym typeface="Poppins"/>
              </a:rPr>
              <a:t>Coal and hydro hold the largest installed capacity, while solar and wind only began scaling in the 2010s.</a:t>
            </a:r>
            <a:endParaRPr sz="1170">
              <a:solidFill>
                <a:schemeClr val="lt1"/>
              </a:solidFill>
              <a:latin typeface="Poppins"/>
              <a:ea typeface="Poppins"/>
              <a:cs typeface="Poppins"/>
              <a:sym typeface="Poppins"/>
            </a:endParaRPr>
          </a:p>
        </p:txBody>
      </p:sp>
      <p:sp>
        <p:nvSpPr>
          <p:cNvPr id="142" name="Google Shape;142;p20"/>
          <p:cNvSpPr txBox="1"/>
          <p:nvPr/>
        </p:nvSpPr>
        <p:spPr>
          <a:xfrm>
            <a:off x="4425200" y="3893275"/>
            <a:ext cx="4654200" cy="5433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82325" tIns="82325" rIns="82325" bIns="82325" anchor="t" anchorCtr="0">
            <a:noAutofit/>
          </a:bodyPr>
          <a:lstStyle/>
          <a:p>
            <a:pPr marL="0" lvl="0" indent="0" algn="l" rtl="0">
              <a:spcBef>
                <a:spcPts val="0"/>
              </a:spcBef>
              <a:spcAft>
                <a:spcPts val="0"/>
              </a:spcAft>
              <a:buNone/>
            </a:pPr>
            <a:r>
              <a:rPr lang="en" sz="1170">
                <a:solidFill>
                  <a:schemeClr val="dk1"/>
                </a:solidFill>
                <a:latin typeface="Poppins"/>
                <a:ea typeface="Poppins"/>
                <a:cs typeface="Poppins"/>
                <a:sym typeface="Poppins"/>
              </a:rPr>
              <a:t>Generation grows faster than capacity, showing increased grid utilization and rising national demand.</a:t>
            </a:r>
            <a:endParaRPr sz="1170">
              <a:solidFill>
                <a:schemeClr val="dk1"/>
              </a:solidFill>
              <a:latin typeface="Poppins"/>
              <a:ea typeface="Poppins"/>
              <a:cs typeface="Poppins"/>
              <a:sym typeface="Poppins"/>
            </a:endParaRPr>
          </a:p>
        </p:txBody>
      </p:sp>
      <p:sp>
        <p:nvSpPr>
          <p:cNvPr id="143" name="Google Shape;143;p20"/>
          <p:cNvSpPr txBox="1"/>
          <p:nvPr/>
        </p:nvSpPr>
        <p:spPr>
          <a:xfrm>
            <a:off x="1549350" y="349950"/>
            <a:ext cx="6045300" cy="54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b="1">
                <a:solidFill>
                  <a:schemeClr val="dk2"/>
                </a:solidFill>
                <a:latin typeface="Poppins"/>
                <a:ea typeface="Poppins"/>
                <a:cs typeface="Poppins"/>
                <a:sym typeface="Poppins"/>
              </a:rPr>
              <a:t>Installed Capacity and Generation </a:t>
            </a:r>
            <a:r>
              <a:rPr lang="en" sz="2100" b="1">
                <a:solidFill>
                  <a:schemeClr val="dk1"/>
                </a:solidFill>
                <a:latin typeface="Poppins"/>
                <a:ea typeface="Poppins"/>
                <a:cs typeface="Poppins"/>
                <a:sym typeface="Poppins"/>
              </a:rPr>
              <a:t>Trends</a:t>
            </a:r>
            <a:endParaRPr sz="2100" b="1">
              <a:solidFill>
                <a:schemeClr val="dk1"/>
              </a:solidFill>
              <a:latin typeface="Poppins"/>
              <a:ea typeface="Poppins"/>
              <a:cs typeface="Poppins"/>
              <a:sym typeface="Poppins"/>
            </a:endParaRPr>
          </a:p>
        </p:txBody>
      </p:sp>
      <p:pic>
        <p:nvPicPr>
          <p:cNvPr id="144" name="Google Shape;144;p20"/>
          <p:cNvPicPr preferRelativeResize="0"/>
          <p:nvPr/>
        </p:nvPicPr>
        <p:blipFill>
          <a:blip r:embed="rId3">
            <a:alphaModFix/>
          </a:blip>
          <a:stretch>
            <a:fillRect/>
          </a:stretch>
        </p:blipFill>
        <p:spPr>
          <a:xfrm>
            <a:off x="73521" y="893238"/>
            <a:ext cx="4014217" cy="2884634"/>
          </a:xfrm>
          <a:prstGeom prst="rect">
            <a:avLst/>
          </a:prstGeom>
          <a:noFill/>
          <a:ln w="19050" cap="flat" cmpd="sng">
            <a:solidFill>
              <a:schemeClr val="dk2"/>
            </a:solidFill>
            <a:prstDash val="solid"/>
            <a:round/>
            <a:headEnd type="none" w="sm" len="sm"/>
            <a:tailEnd type="none" w="sm" len="sm"/>
          </a:ln>
        </p:spPr>
      </p:pic>
      <p:pic>
        <p:nvPicPr>
          <p:cNvPr id="145" name="Google Shape;145;p20"/>
          <p:cNvPicPr preferRelativeResize="0"/>
          <p:nvPr/>
        </p:nvPicPr>
        <p:blipFill>
          <a:blip r:embed="rId4">
            <a:alphaModFix/>
          </a:blip>
          <a:stretch>
            <a:fillRect/>
          </a:stretch>
        </p:blipFill>
        <p:spPr>
          <a:xfrm>
            <a:off x="4425150" y="1171463"/>
            <a:ext cx="4654297" cy="2606406"/>
          </a:xfrm>
          <a:prstGeom prst="rect">
            <a:avLst/>
          </a:prstGeom>
          <a:noFill/>
          <a:ln w="19050" cap="flat" cmpd="sng">
            <a:solidFill>
              <a:schemeClr val="dk2"/>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CF0"/>
        </a:solidFill>
        <a:effectLst/>
      </p:bgPr>
    </p:bg>
    <p:spTree>
      <p:nvGrpSpPr>
        <p:cNvPr id="1" name="Shape 149"/>
        <p:cNvGrpSpPr/>
        <p:nvPr/>
      </p:nvGrpSpPr>
      <p:grpSpPr>
        <a:xfrm>
          <a:off x="0" y="0"/>
          <a:ext cx="0" cy="0"/>
          <a:chOff x="0" y="0"/>
          <a:chExt cx="0" cy="0"/>
        </a:xfrm>
      </p:grpSpPr>
      <p:sp>
        <p:nvSpPr>
          <p:cNvPr id="150" name="Google Shape;150;p21"/>
          <p:cNvSpPr txBox="1"/>
          <p:nvPr/>
        </p:nvSpPr>
        <p:spPr>
          <a:xfrm>
            <a:off x="1959475" y="4070000"/>
            <a:ext cx="5225100" cy="538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50">
                <a:solidFill>
                  <a:schemeClr val="dk1"/>
                </a:solidFill>
                <a:latin typeface="Poppins"/>
                <a:ea typeface="Poppins"/>
                <a:cs typeface="Poppins"/>
                <a:sym typeface="Poppins"/>
              </a:rPr>
              <a:t>Visayas and Mindanao have stronger renewable penetration, while Luzon remains heavily dependent on fossil fuels.</a:t>
            </a:r>
            <a:endParaRPr sz="1150">
              <a:solidFill>
                <a:schemeClr val="dk1"/>
              </a:solidFill>
              <a:latin typeface="Poppins"/>
              <a:ea typeface="Poppins"/>
              <a:cs typeface="Poppins"/>
              <a:sym typeface="Poppins"/>
            </a:endParaRPr>
          </a:p>
        </p:txBody>
      </p:sp>
      <p:sp>
        <p:nvSpPr>
          <p:cNvPr id="151" name="Google Shape;151;p21"/>
          <p:cNvSpPr txBox="1"/>
          <p:nvPr/>
        </p:nvSpPr>
        <p:spPr>
          <a:xfrm>
            <a:off x="2171725" y="256100"/>
            <a:ext cx="5099100" cy="54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b="1">
                <a:latin typeface="Poppins"/>
                <a:ea typeface="Poppins"/>
                <a:cs typeface="Poppins"/>
                <a:sym typeface="Poppins"/>
              </a:rPr>
              <a:t>Non-renewables vs </a:t>
            </a:r>
            <a:r>
              <a:rPr lang="en" sz="2100" b="1">
                <a:solidFill>
                  <a:schemeClr val="dk1"/>
                </a:solidFill>
                <a:latin typeface="Poppins"/>
                <a:ea typeface="Poppins"/>
                <a:cs typeface="Poppins"/>
                <a:sym typeface="Poppins"/>
              </a:rPr>
              <a:t>Renewables</a:t>
            </a:r>
            <a:endParaRPr sz="2100" b="1">
              <a:solidFill>
                <a:schemeClr val="dk1"/>
              </a:solidFill>
              <a:latin typeface="Poppins"/>
              <a:ea typeface="Poppins"/>
              <a:cs typeface="Poppins"/>
              <a:sym typeface="Poppins"/>
            </a:endParaRPr>
          </a:p>
        </p:txBody>
      </p:sp>
      <p:pic>
        <p:nvPicPr>
          <p:cNvPr id="152" name="Google Shape;152;p21"/>
          <p:cNvPicPr preferRelativeResize="0"/>
          <p:nvPr/>
        </p:nvPicPr>
        <p:blipFill>
          <a:blip r:embed="rId3">
            <a:alphaModFix/>
          </a:blip>
          <a:stretch>
            <a:fillRect/>
          </a:stretch>
        </p:blipFill>
        <p:spPr>
          <a:xfrm>
            <a:off x="2171725" y="799400"/>
            <a:ext cx="4800601" cy="3111158"/>
          </a:xfrm>
          <a:prstGeom prst="rect">
            <a:avLst/>
          </a:prstGeom>
          <a:noFill/>
          <a:ln w="19050" cap="flat" cmpd="sng">
            <a:solidFill>
              <a:schemeClr val="dk2"/>
            </a:solidFill>
            <a:prstDash val="solid"/>
            <a:round/>
            <a:headEnd type="none" w="sm" len="sm"/>
            <a:tailEnd type="none" w="sm" len="sm"/>
          </a:ln>
        </p:spPr>
      </p:pic>
      <p:sp>
        <p:nvSpPr>
          <p:cNvPr id="2" name="TextBox 1">
            <a:extLst>
              <a:ext uri="{FF2B5EF4-FFF2-40B4-BE49-F238E27FC236}">
                <a16:creationId xmlns:a16="http://schemas.microsoft.com/office/drawing/2014/main" id="{4250D359-B59A-BDBC-B26A-33C23A35612C}"/>
              </a:ext>
            </a:extLst>
          </p:cNvPr>
          <p:cNvSpPr txBox="1"/>
          <p:nvPr/>
        </p:nvSpPr>
        <p:spPr>
          <a:xfrm>
            <a:off x="3038475" y="1193800"/>
            <a:ext cx="295275" cy="200055"/>
          </a:xfrm>
          <a:prstGeom prst="rect">
            <a:avLst/>
          </a:prstGeom>
          <a:noFill/>
        </p:spPr>
        <p:txBody>
          <a:bodyPr wrap="square" rtlCol="0">
            <a:spAutoFit/>
          </a:bodyPr>
          <a:lstStyle/>
          <a:p>
            <a:r>
              <a:rPr lang="en-US" sz="700" b="1" dirty="0">
                <a:solidFill>
                  <a:srgbClr val="2D3A84"/>
                </a:solidFill>
                <a:latin typeface="Segoe UI" panose="020B0502040204020203" pitchFamily="34" charset="0"/>
                <a:cs typeface="Segoe UI" panose="020B0502040204020203" pitchFamily="34" charset="0"/>
              </a:rPr>
              <a:t>%</a:t>
            </a:r>
          </a:p>
        </p:txBody>
      </p:sp>
      <p:sp>
        <p:nvSpPr>
          <p:cNvPr id="3" name="TextBox 2">
            <a:extLst>
              <a:ext uri="{FF2B5EF4-FFF2-40B4-BE49-F238E27FC236}">
                <a16:creationId xmlns:a16="http://schemas.microsoft.com/office/drawing/2014/main" id="{94CC8372-CBE1-7E54-E36A-C6EDC6B75D9E}"/>
              </a:ext>
            </a:extLst>
          </p:cNvPr>
          <p:cNvSpPr txBox="1"/>
          <p:nvPr/>
        </p:nvSpPr>
        <p:spPr>
          <a:xfrm>
            <a:off x="4384675" y="1768475"/>
            <a:ext cx="295275" cy="200055"/>
          </a:xfrm>
          <a:prstGeom prst="rect">
            <a:avLst/>
          </a:prstGeom>
          <a:noFill/>
        </p:spPr>
        <p:txBody>
          <a:bodyPr wrap="square" rtlCol="0">
            <a:spAutoFit/>
          </a:bodyPr>
          <a:lstStyle/>
          <a:p>
            <a:r>
              <a:rPr lang="en-US" sz="700" b="1" dirty="0">
                <a:solidFill>
                  <a:srgbClr val="2D3A84"/>
                </a:solidFill>
                <a:latin typeface="Segoe UI" panose="020B0502040204020203" pitchFamily="34" charset="0"/>
                <a:cs typeface="Segoe UI" panose="020B0502040204020203" pitchFamily="34" charset="0"/>
              </a:rPr>
              <a:t>%</a:t>
            </a:r>
          </a:p>
        </p:txBody>
      </p:sp>
      <p:sp>
        <p:nvSpPr>
          <p:cNvPr id="4" name="TextBox 3">
            <a:extLst>
              <a:ext uri="{FF2B5EF4-FFF2-40B4-BE49-F238E27FC236}">
                <a16:creationId xmlns:a16="http://schemas.microsoft.com/office/drawing/2014/main" id="{2632B54E-FA93-3A12-7BE1-11902BE47E2E}"/>
              </a:ext>
            </a:extLst>
          </p:cNvPr>
          <p:cNvSpPr txBox="1"/>
          <p:nvPr/>
        </p:nvSpPr>
        <p:spPr>
          <a:xfrm>
            <a:off x="3546475" y="3009900"/>
            <a:ext cx="295275" cy="200055"/>
          </a:xfrm>
          <a:prstGeom prst="rect">
            <a:avLst/>
          </a:prstGeom>
          <a:noFill/>
        </p:spPr>
        <p:txBody>
          <a:bodyPr wrap="square" rtlCol="0">
            <a:spAutoFit/>
          </a:bodyPr>
          <a:lstStyle/>
          <a:p>
            <a:r>
              <a:rPr lang="en-US" sz="700" b="1" dirty="0">
                <a:solidFill>
                  <a:srgbClr val="2D3A84"/>
                </a:solidFill>
                <a:latin typeface="Segoe UI" panose="020B0502040204020203" pitchFamily="34" charset="0"/>
                <a:cs typeface="Segoe UI" panose="020B0502040204020203" pitchFamily="34" charset="0"/>
              </a:rPr>
              <a:t>%</a:t>
            </a:r>
          </a:p>
        </p:txBody>
      </p:sp>
      <p:sp>
        <p:nvSpPr>
          <p:cNvPr id="5" name="TextBox 4">
            <a:extLst>
              <a:ext uri="{FF2B5EF4-FFF2-40B4-BE49-F238E27FC236}">
                <a16:creationId xmlns:a16="http://schemas.microsoft.com/office/drawing/2014/main" id="{FCA1223C-670F-ADA2-B9FF-ACBE325D63A3}"/>
              </a:ext>
            </a:extLst>
          </p:cNvPr>
          <p:cNvSpPr txBox="1"/>
          <p:nvPr/>
        </p:nvSpPr>
        <p:spPr>
          <a:xfrm>
            <a:off x="4892675" y="2441575"/>
            <a:ext cx="295275" cy="200055"/>
          </a:xfrm>
          <a:prstGeom prst="rect">
            <a:avLst/>
          </a:prstGeom>
          <a:noFill/>
        </p:spPr>
        <p:txBody>
          <a:bodyPr wrap="square" rtlCol="0">
            <a:spAutoFit/>
          </a:bodyPr>
          <a:lstStyle/>
          <a:p>
            <a:r>
              <a:rPr lang="en-US" sz="700" b="1" dirty="0">
                <a:solidFill>
                  <a:srgbClr val="2D3A84"/>
                </a:solidFill>
                <a:latin typeface="Segoe UI" panose="020B0502040204020203" pitchFamily="34" charset="0"/>
                <a:cs typeface="Segoe UI" panose="020B0502040204020203" pitchFamily="34" charset="0"/>
              </a:rPr>
              <a:t>%</a:t>
            </a:r>
          </a:p>
        </p:txBody>
      </p:sp>
      <p:sp>
        <p:nvSpPr>
          <p:cNvPr id="6" name="TextBox 5">
            <a:extLst>
              <a:ext uri="{FF2B5EF4-FFF2-40B4-BE49-F238E27FC236}">
                <a16:creationId xmlns:a16="http://schemas.microsoft.com/office/drawing/2014/main" id="{B5F6A223-6092-C221-9C69-F6AC57E1C819}"/>
              </a:ext>
            </a:extLst>
          </p:cNvPr>
          <p:cNvSpPr txBox="1"/>
          <p:nvPr/>
        </p:nvSpPr>
        <p:spPr>
          <a:xfrm>
            <a:off x="5734050" y="1844675"/>
            <a:ext cx="295275" cy="200055"/>
          </a:xfrm>
          <a:prstGeom prst="rect">
            <a:avLst/>
          </a:prstGeom>
          <a:noFill/>
        </p:spPr>
        <p:txBody>
          <a:bodyPr wrap="square" rtlCol="0">
            <a:spAutoFit/>
          </a:bodyPr>
          <a:lstStyle/>
          <a:p>
            <a:r>
              <a:rPr lang="en-US" sz="700" b="1" dirty="0">
                <a:solidFill>
                  <a:srgbClr val="2D3A84"/>
                </a:solidFill>
                <a:latin typeface="Segoe UI" panose="020B0502040204020203" pitchFamily="34" charset="0"/>
                <a:cs typeface="Segoe UI" panose="020B0502040204020203" pitchFamily="34" charset="0"/>
              </a:rPr>
              <a:t>%</a:t>
            </a:r>
          </a:p>
        </p:txBody>
      </p:sp>
      <p:sp>
        <p:nvSpPr>
          <p:cNvPr id="7" name="TextBox 6">
            <a:extLst>
              <a:ext uri="{FF2B5EF4-FFF2-40B4-BE49-F238E27FC236}">
                <a16:creationId xmlns:a16="http://schemas.microsoft.com/office/drawing/2014/main" id="{05449F03-81C7-ECDC-EC7B-9AD4351580A4}"/>
              </a:ext>
            </a:extLst>
          </p:cNvPr>
          <p:cNvSpPr txBox="1"/>
          <p:nvPr/>
        </p:nvSpPr>
        <p:spPr>
          <a:xfrm>
            <a:off x="6242050" y="2358124"/>
            <a:ext cx="295275" cy="200055"/>
          </a:xfrm>
          <a:prstGeom prst="rect">
            <a:avLst/>
          </a:prstGeom>
          <a:noFill/>
        </p:spPr>
        <p:txBody>
          <a:bodyPr wrap="square" rtlCol="0">
            <a:spAutoFit/>
          </a:bodyPr>
          <a:lstStyle/>
          <a:p>
            <a:r>
              <a:rPr lang="en-US" sz="700" b="1" dirty="0">
                <a:solidFill>
                  <a:srgbClr val="2D3A84"/>
                </a:solidFill>
                <a:latin typeface="Segoe UI" panose="020B0502040204020203" pitchFamily="34" charset="0"/>
                <a:cs typeface="Segoe UI" panose="020B0502040204020203" pitchFamily="34" charset="0"/>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CF0"/>
        </a:solidFill>
        <a:effectLst/>
      </p:bgPr>
    </p:bg>
    <p:spTree>
      <p:nvGrpSpPr>
        <p:cNvPr id="1" name="Shape 156"/>
        <p:cNvGrpSpPr/>
        <p:nvPr/>
      </p:nvGrpSpPr>
      <p:grpSpPr>
        <a:xfrm>
          <a:off x="0" y="0"/>
          <a:ext cx="0" cy="0"/>
          <a:chOff x="0" y="0"/>
          <a:chExt cx="0" cy="0"/>
        </a:xfrm>
      </p:grpSpPr>
      <p:sp>
        <p:nvSpPr>
          <p:cNvPr id="157" name="Google Shape;157;p22"/>
          <p:cNvSpPr txBox="1"/>
          <p:nvPr/>
        </p:nvSpPr>
        <p:spPr>
          <a:xfrm>
            <a:off x="784125" y="197750"/>
            <a:ext cx="6848400" cy="54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b="1">
                <a:latin typeface="Poppins"/>
                <a:ea typeface="Poppins"/>
                <a:cs typeface="Poppins"/>
                <a:sym typeface="Poppins"/>
              </a:rPr>
              <a:t>Overall </a:t>
            </a:r>
            <a:r>
              <a:rPr lang="en" sz="2100" b="1">
                <a:solidFill>
                  <a:schemeClr val="dk1"/>
                </a:solidFill>
                <a:latin typeface="Poppins"/>
                <a:ea typeface="Poppins"/>
                <a:cs typeface="Poppins"/>
                <a:sym typeface="Poppins"/>
              </a:rPr>
              <a:t>Highlights</a:t>
            </a:r>
            <a:endParaRPr sz="2100" b="1">
              <a:solidFill>
                <a:schemeClr val="dk1"/>
              </a:solidFill>
              <a:latin typeface="Poppins"/>
              <a:ea typeface="Poppins"/>
              <a:cs typeface="Poppins"/>
              <a:sym typeface="Poppins"/>
            </a:endParaRPr>
          </a:p>
        </p:txBody>
      </p:sp>
      <p:sp>
        <p:nvSpPr>
          <p:cNvPr id="158" name="Google Shape;158;p22"/>
          <p:cNvSpPr txBox="1"/>
          <p:nvPr/>
        </p:nvSpPr>
        <p:spPr>
          <a:xfrm>
            <a:off x="784125" y="741050"/>
            <a:ext cx="7675500" cy="3683100"/>
          </a:xfrm>
          <a:prstGeom prst="rect">
            <a:avLst/>
          </a:prstGeom>
          <a:solidFill>
            <a:schemeClr val="dk1"/>
          </a:solidFill>
          <a:ln w="19050"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457200" lvl="0" indent="-304800" algn="l" rtl="0">
              <a:lnSpc>
                <a:spcPct val="115000"/>
              </a:lnSpc>
              <a:spcBef>
                <a:spcPts val="1200"/>
              </a:spcBef>
              <a:spcAft>
                <a:spcPts val="0"/>
              </a:spcAft>
              <a:buClr>
                <a:schemeClr val="lt1"/>
              </a:buClr>
              <a:buSzPts val="1200"/>
              <a:buFont typeface="Poppins"/>
              <a:buAutoNum type="arabicPeriod"/>
            </a:pPr>
            <a:r>
              <a:rPr lang="en" sz="1200">
                <a:solidFill>
                  <a:schemeClr val="lt1"/>
                </a:solidFill>
                <a:latin typeface="Poppins"/>
                <a:ea typeface="Poppins"/>
                <a:cs typeface="Poppins"/>
                <a:sym typeface="Poppins"/>
              </a:rPr>
              <a:t>Total generation hit 118 TWh in 2023, almost double early-2000 levels, showing strong demand growth.</a:t>
            </a:r>
            <a:br>
              <a:rPr lang="en" sz="1200">
                <a:solidFill>
                  <a:schemeClr val="lt1"/>
                </a:solidFill>
                <a:latin typeface="Poppins"/>
                <a:ea typeface="Poppins"/>
                <a:cs typeface="Poppins"/>
                <a:sym typeface="Poppins"/>
              </a:rPr>
            </a:br>
            <a:endParaRPr sz="1200">
              <a:solidFill>
                <a:schemeClr val="lt1"/>
              </a:solidFill>
              <a:latin typeface="Poppins"/>
              <a:ea typeface="Poppins"/>
              <a:cs typeface="Poppins"/>
              <a:sym typeface="Poppins"/>
            </a:endParaRPr>
          </a:p>
          <a:p>
            <a:pPr marL="457200" lvl="0" indent="-304800" algn="l" rtl="0">
              <a:lnSpc>
                <a:spcPct val="115000"/>
              </a:lnSpc>
              <a:spcBef>
                <a:spcPts val="0"/>
              </a:spcBef>
              <a:spcAft>
                <a:spcPts val="0"/>
              </a:spcAft>
              <a:buClr>
                <a:schemeClr val="lt1"/>
              </a:buClr>
              <a:buSzPts val="1200"/>
              <a:buFont typeface="Poppins"/>
              <a:buAutoNum type="arabicPeriod"/>
            </a:pPr>
            <a:r>
              <a:rPr lang="en" sz="1200">
                <a:solidFill>
                  <a:schemeClr val="lt1"/>
                </a:solidFill>
                <a:latin typeface="Poppins"/>
                <a:ea typeface="Poppins"/>
                <a:cs typeface="Poppins"/>
                <a:sym typeface="Poppins"/>
              </a:rPr>
              <a:t>Installed capacity kept rising, driven by coal and gas in Luzon, and more renewables in Visayas and Mindanao.</a:t>
            </a:r>
            <a:br>
              <a:rPr lang="en" sz="1200">
                <a:solidFill>
                  <a:schemeClr val="lt1"/>
                </a:solidFill>
                <a:latin typeface="Poppins"/>
                <a:ea typeface="Poppins"/>
                <a:cs typeface="Poppins"/>
                <a:sym typeface="Poppins"/>
              </a:rPr>
            </a:br>
            <a:endParaRPr sz="1200">
              <a:solidFill>
                <a:schemeClr val="lt1"/>
              </a:solidFill>
              <a:latin typeface="Poppins"/>
              <a:ea typeface="Poppins"/>
              <a:cs typeface="Poppins"/>
              <a:sym typeface="Poppins"/>
            </a:endParaRPr>
          </a:p>
          <a:p>
            <a:pPr marL="457200" lvl="0" indent="-304800" algn="l" rtl="0">
              <a:lnSpc>
                <a:spcPct val="115000"/>
              </a:lnSpc>
              <a:spcBef>
                <a:spcPts val="0"/>
              </a:spcBef>
              <a:spcAft>
                <a:spcPts val="0"/>
              </a:spcAft>
              <a:buClr>
                <a:schemeClr val="lt1"/>
              </a:buClr>
              <a:buSzPts val="1200"/>
              <a:buFont typeface="Poppins"/>
              <a:buAutoNum type="arabicPeriod"/>
            </a:pPr>
            <a:r>
              <a:rPr lang="en" sz="1200">
                <a:solidFill>
                  <a:schemeClr val="lt1"/>
                </a:solidFill>
                <a:latin typeface="Poppins"/>
                <a:ea typeface="Poppins"/>
                <a:cs typeface="Poppins"/>
                <a:sym typeface="Poppins"/>
              </a:rPr>
              <a:t>Coal (53 TWh) and natural gas (16.6 TWh) remain the top power sources across all grids.</a:t>
            </a:r>
            <a:br>
              <a:rPr lang="en" sz="1200">
                <a:solidFill>
                  <a:schemeClr val="lt1"/>
                </a:solidFill>
                <a:latin typeface="Poppins"/>
                <a:ea typeface="Poppins"/>
                <a:cs typeface="Poppins"/>
                <a:sym typeface="Poppins"/>
              </a:rPr>
            </a:br>
            <a:endParaRPr sz="1200">
              <a:solidFill>
                <a:schemeClr val="lt1"/>
              </a:solidFill>
              <a:latin typeface="Poppins"/>
              <a:ea typeface="Poppins"/>
              <a:cs typeface="Poppins"/>
              <a:sym typeface="Poppins"/>
            </a:endParaRPr>
          </a:p>
          <a:p>
            <a:pPr marL="457200" lvl="0" indent="-304800" algn="l" rtl="0">
              <a:lnSpc>
                <a:spcPct val="115000"/>
              </a:lnSpc>
              <a:spcBef>
                <a:spcPts val="0"/>
              </a:spcBef>
              <a:spcAft>
                <a:spcPts val="0"/>
              </a:spcAft>
              <a:buClr>
                <a:schemeClr val="lt1"/>
              </a:buClr>
              <a:buSzPts val="1200"/>
              <a:buFont typeface="Poppins"/>
              <a:buAutoNum type="arabicPeriod"/>
            </a:pPr>
            <a:r>
              <a:rPr lang="en" sz="1200">
                <a:solidFill>
                  <a:schemeClr val="lt1"/>
                </a:solidFill>
                <a:latin typeface="Poppins"/>
                <a:ea typeface="Poppins"/>
                <a:cs typeface="Poppins"/>
                <a:sym typeface="Poppins"/>
              </a:rPr>
              <a:t>Renewables produce 18–20 TWh, with hydro and geothermal as steady baseload, and solar/wind growing fastest.</a:t>
            </a:r>
            <a:br>
              <a:rPr lang="en" sz="1200">
                <a:solidFill>
                  <a:schemeClr val="lt1"/>
                </a:solidFill>
                <a:latin typeface="Poppins"/>
                <a:ea typeface="Poppins"/>
                <a:cs typeface="Poppins"/>
                <a:sym typeface="Poppins"/>
              </a:rPr>
            </a:br>
            <a:endParaRPr sz="1200">
              <a:solidFill>
                <a:schemeClr val="lt1"/>
              </a:solidFill>
              <a:latin typeface="Poppins"/>
              <a:ea typeface="Poppins"/>
              <a:cs typeface="Poppins"/>
              <a:sym typeface="Poppins"/>
            </a:endParaRPr>
          </a:p>
          <a:p>
            <a:pPr marL="457200" lvl="0" indent="-304800" algn="l" rtl="0">
              <a:lnSpc>
                <a:spcPct val="115000"/>
              </a:lnSpc>
              <a:spcBef>
                <a:spcPts val="0"/>
              </a:spcBef>
              <a:spcAft>
                <a:spcPts val="0"/>
              </a:spcAft>
              <a:buClr>
                <a:schemeClr val="lt1"/>
              </a:buClr>
              <a:buSzPts val="1200"/>
              <a:buFont typeface="Poppins"/>
              <a:buAutoNum type="arabicPeriod"/>
            </a:pPr>
            <a:r>
              <a:rPr lang="en" sz="1200">
                <a:solidFill>
                  <a:schemeClr val="lt1"/>
                </a:solidFill>
                <a:latin typeface="Poppins"/>
                <a:ea typeface="Poppins"/>
                <a:cs typeface="Poppins"/>
                <a:sym typeface="Poppins"/>
              </a:rPr>
              <a:t>Renewable share is now around 15–20%, boosted mainly by solar and wind expansion in the last decade.</a:t>
            </a:r>
            <a:br>
              <a:rPr lang="en" sz="1200">
                <a:solidFill>
                  <a:schemeClr val="lt1"/>
                </a:solidFill>
                <a:latin typeface="Poppins"/>
                <a:ea typeface="Poppins"/>
                <a:cs typeface="Poppins"/>
                <a:sym typeface="Poppins"/>
              </a:rPr>
            </a:br>
            <a:endParaRPr sz="1200">
              <a:solidFill>
                <a:schemeClr val="lt1"/>
              </a:solidFill>
              <a:latin typeface="Poppins"/>
              <a:ea typeface="Poppins"/>
              <a:cs typeface="Poppins"/>
              <a:sym typeface="Poppins"/>
            </a:endParaRPr>
          </a:p>
          <a:p>
            <a:pPr marL="457200" lvl="0" indent="-304800" algn="l" rtl="0">
              <a:lnSpc>
                <a:spcPct val="115000"/>
              </a:lnSpc>
              <a:spcBef>
                <a:spcPts val="0"/>
              </a:spcBef>
              <a:spcAft>
                <a:spcPts val="0"/>
              </a:spcAft>
              <a:buClr>
                <a:schemeClr val="lt1"/>
              </a:buClr>
              <a:buSzPts val="1200"/>
              <a:buFont typeface="Poppins"/>
              <a:buAutoNum type="arabicPeriod"/>
            </a:pPr>
            <a:r>
              <a:rPr lang="en" sz="1200">
                <a:solidFill>
                  <a:schemeClr val="lt1"/>
                </a:solidFill>
                <a:latin typeface="Poppins"/>
                <a:ea typeface="Poppins"/>
                <a:cs typeface="Poppins"/>
                <a:sym typeface="Poppins"/>
              </a:rPr>
              <a:t>Regional patterns differ: Luzon leads with ~83 TWh, while Visayas and Mindanao rely more on geothermal and hydro.</a:t>
            </a:r>
            <a:endParaRPr sz="1200">
              <a:solidFill>
                <a:schemeClr val="lt1"/>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CF0"/>
        </a:solidFill>
        <a:effectLst/>
      </p:bgPr>
    </p:bg>
    <p:spTree>
      <p:nvGrpSpPr>
        <p:cNvPr id="1" name="Shape 162"/>
        <p:cNvGrpSpPr/>
        <p:nvPr/>
      </p:nvGrpSpPr>
      <p:grpSpPr>
        <a:xfrm>
          <a:off x="0" y="0"/>
          <a:ext cx="0" cy="0"/>
          <a:chOff x="0" y="0"/>
          <a:chExt cx="0" cy="0"/>
        </a:xfrm>
      </p:grpSpPr>
      <p:sp>
        <p:nvSpPr>
          <p:cNvPr id="163" name="Google Shape;163;p23"/>
          <p:cNvSpPr txBox="1"/>
          <p:nvPr/>
        </p:nvSpPr>
        <p:spPr>
          <a:xfrm>
            <a:off x="1147800" y="650950"/>
            <a:ext cx="6848400" cy="54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b="1">
                <a:latin typeface="Poppins"/>
                <a:ea typeface="Poppins"/>
                <a:cs typeface="Poppins"/>
                <a:sym typeface="Poppins"/>
              </a:rPr>
              <a:t>Where the Philippines Stands </a:t>
            </a:r>
            <a:r>
              <a:rPr lang="en" sz="2100" b="1">
                <a:solidFill>
                  <a:schemeClr val="dk1"/>
                </a:solidFill>
                <a:latin typeface="Poppins"/>
                <a:ea typeface="Poppins"/>
                <a:cs typeface="Poppins"/>
                <a:sym typeface="Poppins"/>
              </a:rPr>
              <a:t>Today</a:t>
            </a:r>
            <a:endParaRPr sz="2100" b="1">
              <a:solidFill>
                <a:schemeClr val="dk1"/>
              </a:solidFill>
              <a:latin typeface="Poppins"/>
              <a:ea typeface="Poppins"/>
              <a:cs typeface="Poppins"/>
              <a:sym typeface="Poppins"/>
            </a:endParaRPr>
          </a:p>
        </p:txBody>
      </p:sp>
      <p:sp>
        <p:nvSpPr>
          <p:cNvPr id="164" name="Google Shape;164;p23"/>
          <p:cNvSpPr txBox="1"/>
          <p:nvPr/>
        </p:nvSpPr>
        <p:spPr>
          <a:xfrm>
            <a:off x="1147800" y="1194250"/>
            <a:ext cx="6848400" cy="2524800"/>
          </a:xfrm>
          <a:prstGeom prst="rect">
            <a:avLst/>
          </a:prstGeom>
          <a:solidFill>
            <a:schemeClr val="dk1"/>
          </a:solidFill>
          <a:ln w="19050"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594360" lvl="0" indent="-594360" algn="l" rtl="0">
              <a:spcBef>
                <a:spcPts val="0"/>
              </a:spcBef>
              <a:spcAft>
                <a:spcPts val="0"/>
              </a:spcAft>
              <a:buNone/>
            </a:pPr>
            <a:r>
              <a:rPr lang="en" sz="2100" b="1">
                <a:solidFill>
                  <a:schemeClr val="lt1"/>
                </a:solidFill>
                <a:latin typeface="Poppins"/>
                <a:ea typeface="Poppins"/>
                <a:cs typeface="Poppins"/>
                <a:sym typeface="Poppins"/>
              </a:rPr>
              <a:t>01</a:t>
            </a:r>
            <a:r>
              <a:rPr lang="en">
                <a:solidFill>
                  <a:schemeClr val="lt1"/>
                </a:solidFill>
                <a:latin typeface="Poppins"/>
                <a:ea typeface="Poppins"/>
                <a:cs typeface="Poppins"/>
                <a:sym typeface="Poppins"/>
              </a:rPr>
              <a:t>	Coal still dominates the national grid, especially in Luzon.</a:t>
            </a:r>
            <a:endParaRPr>
              <a:solidFill>
                <a:schemeClr val="lt1"/>
              </a:solidFill>
              <a:latin typeface="Poppins"/>
              <a:ea typeface="Poppins"/>
              <a:cs typeface="Poppins"/>
              <a:sym typeface="Poppins"/>
            </a:endParaRPr>
          </a:p>
          <a:p>
            <a:pPr marL="411480" lvl="0" indent="-411480" algn="l" rtl="0">
              <a:spcBef>
                <a:spcPts val="0"/>
              </a:spcBef>
              <a:spcAft>
                <a:spcPts val="0"/>
              </a:spcAft>
              <a:buNone/>
            </a:pPr>
            <a:endParaRPr>
              <a:solidFill>
                <a:schemeClr val="lt1"/>
              </a:solidFill>
              <a:latin typeface="Poppins"/>
              <a:ea typeface="Poppins"/>
              <a:cs typeface="Poppins"/>
              <a:sym typeface="Poppins"/>
            </a:endParaRPr>
          </a:p>
          <a:p>
            <a:pPr marL="594360" lvl="0" indent="-594360" algn="l" rtl="0">
              <a:spcBef>
                <a:spcPts val="0"/>
              </a:spcBef>
              <a:spcAft>
                <a:spcPts val="0"/>
              </a:spcAft>
              <a:buNone/>
            </a:pPr>
            <a:r>
              <a:rPr lang="en" sz="2000" b="1">
                <a:solidFill>
                  <a:schemeClr val="lt1"/>
                </a:solidFill>
                <a:latin typeface="Poppins"/>
                <a:ea typeface="Poppins"/>
                <a:cs typeface="Poppins"/>
                <a:sym typeface="Poppins"/>
              </a:rPr>
              <a:t>02</a:t>
            </a:r>
            <a:r>
              <a:rPr lang="en">
                <a:solidFill>
                  <a:schemeClr val="lt1"/>
                </a:solidFill>
                <a:latin typeface="Poppins"/>
                <a:ea typeface="Poppins"/>
                <a:cs typeface="Poppins"/>
                <a:sym typeface="Poppins"/>
              </a:rPr>
              <a:t>	Renewables increased in output but lost share as coal grew faster.</a:t>
            </a:r>
            <a:endParaRPr>
              <a:solidFill>
                <a:schemeClr val="lt1"/>
              </a:solidFill>
              <a:latin typeface="Poppins"/>
              <a:ea typeface="Poppins"/>
              <a:cs typeface="Poppins"/>
              <a:sym typeface="Poppins"/>
            </a:endParaRPr>
          </a:p>
          <a:p>
            <a:pPr marL="914400" lvl="0" indent="0" algn="l" rtl="0">
              <a:spcBef>
                <a:spcPts val="0"/>
              </a:spcBef>
              <a:spcAft>
                <a:spcPts val="0"/>
              </a:spcAft>
              <a:buNone/>
            </a:pPr>
            <a:endParaRPr>
              <a:solidFill>
                <a:schemeClr val="lt1"/>
              </a:solidFill>
              <a:latin typeface="Poppins"/>
              <a:ea typeface="Poppins"/>
              <a:cs typeface="Poppins"/>
              <a:sym typeface="Poppins"/>
            </a:endParaRPr>
          </a:p>
          <a:p>
            <a:pPr marL="594360" lvl="0" indent="-594360" algn="l" rtl="0">
              <a:spcBef>
                <a:spcPts val="0"/>
              </a:spcBef>
              <a:spcAft>
                <a:spcPts val="0"/>
              </a:spcAft>
              <a:buNone/>
            </a:pPr>
            <a:r>
              <a:rPr lang="en" sz="2000" b="1">
                <a:solidFill>
                  <a:schemeClr val="lt1"/>
                </a:solidFill>
                <a:latin typeface="Poppins"/>
                <a:ea typeface="Poppins"/>
                <a:cs typeface="Poppins"/>
                <a:sym typeface="Poppins"/>
              </a:rPr>
              <a:t>03</a:t>
            </a:r>
            <a:r>
              <a:rPr lang="en">
                <a:solidFill>
                  <a:schemeClr val="lt1"/>
                </a:solidFill>
                <a:latin typeface="Poppins"/>
                <a:ea typeface="Poppins"/>
                <a:cs typeface="Poppins"/>
                <a:sym typeface="Poppins"/>
              </a:rPr>
              <a:t>	Visayas and Mindanao maintain stronger renewable mixes than Luzon.</a:t>
            </a:r>
            <a:endParaRPr>
              <a:solidFill>
                <a:schemeClr val="lt1"/>
              </a:solidFill>
              <a:latin typeface="Poppins"/>
              <a:ea typeface="Poppins"/>
              <a:cs typeface="Poppins"/>
              <a:sym typeface="Poppins"/>
            </a:endParaRPr>
          </a:p>
          <a:p>
            <a:pPr marL="914400" lvl="0" indent="0" algn="l" rtl="0">
              <a:spcBef>
                <a:spcPts val="0"/>
              </a:spcBef>
              <a:spcAft>
                <a:spcPts val="0"/>
              </a:spcAft>
              <a:buNone/>
            </a:pPr>
            <a:endParaRPr>
              <a:solidFill>
                <a:schemeClr val="lt1"/>
              </a:solidFill>
              <a:latin typeface="Poppins"/>
              <a:ea typeface="Poppins"/>
              <a:cs typeface="Poppins"/>
              <a:sym typeface="Poppins"/>
            </a:endParaRPr>
          </a:p>
          <a:p>
            <a:pPr marL="594360" lvl="0" indent="-594360" algn="l" rtl="0">
              <a:spcBef>
                <a:spcPts val="0"/>
              </a:spcBef>
              <a:spcAft>
                <a:spcPts val="0"/>
              </a:spcAft>
              <a:buNone/>
            </a:pPr>
            <a:r>
              <a:rPr lang="en" sz="2000" b="1">
                <a:solidFill>
                  <a:schemeClr val="lt1"/>
                </a:solidFill>
                <a:latin typeface="Poppins"/>
                <a:ea typeface="Poppins"/>
                <a:cs typeface="Poppins"/>
                <a:sym typeface="Poppins"/>
              </a:rPr>
              <a:t>04</a:t>
            </a:r>
            <a:r>
              <a:rPr lang="en">
                <a:solidFill>
                  <a:schemeClr val="lt1"/>
                </a:solidFill>
                <a:latin typeface="Poppins"/>
                <a:ea typeface="Poppins"/>
                <a:cs typeface="Poppins"/>
                <a:sym typeface="Poppins"/>
              </a:rPr>
              <a:t>	Rising generation outpaces capacity growth, showing increasing demand pressure.</a:t>
            </a:r>
            <a:endParaRPr>
              <a:solidFill>
                <a:schemeClr val="lt1"/>
              </a:solidFill>
              <a:latin typeface="Poppins"/>
              <a:ea typeface="Poppins"/>
              <a:cs typeface="Poppins"/>
              <a:sym typeface="Poppins"/>
            </a:endParaRPr>
          </a:p>
          <a:p>
            <a:pPr marL="914400" lvl="0" indent="0" algn="l" rtl="0">
              <a:spcBef>
                <a:spcPts val="0"/>
              </a:spcBef>
              <a:spcAft>
                <a:spcPts val="0"/>
              </a:spcAft>
              <a:buNone/>
            </a:pPr>
            <a:endParaRPr>
              <a:solidFill>
                <a:schemeClr val="lt1"/>
              </a:solidFill>
              <a:latin typeface="Poppins"/>
              <a:ea typeface="Poppins"/>
              <a:cs typeface="Poppins"/>
              <a:sym typeface="Poppins"/>
            </a:endParaRPr>
          </a:p>
          <a:p>
            <a:pPr marL="594360" lvl="0" indent="-594360" algn="l" rtl="0">
              <a:spcBef>
                <a:spcPts val="0"/>
              </a:spcBef>
              <a:spcAft>
                <a:spcPts val="0"/>
              </a:spcAft>
              <a:buNone/>
            </a:pPr>
            <a:endParaRPr>
              <a:solidFill>
                <a:schemeClr val="lt1"/>
              </a:solidFill>
              <a:latin typeface="Poppins"/>
              <a:ea typeface="Poppins"/>
              <a:cs typeface="Poppins"/>
              <a:sym typeface="Poppins"/>
            </a:endParaRPr>
          </a:p>
        </p:txBody>
      </p:sp>
      <p:sp>
        <p:nvSpPr>
          <p:cNvPr id="165" name="Google Shape;165;p23"/>
          <p:cNvSpPr txBox="1"/>
          <p:nvPr/>
        </p:nvSpPr>
        <p:spPr>
          <a:xfrm>
            <a:off x="1147800" y="3798300"/>
            <a:ext cx="6848400" cy="589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latin typeface="Poppins"/>
                <a:ea typeface="Poppins"/>
                <a:cs typeface="Poppins"/>
                <a:sym typeface="Poppins"/>
              </a:rPr>
              <a:t>Overall, the country’s transition to clean energy is moving, but not yet fast enough to shift the national energy mix.</a:t>
            </a:r>
            <a:endParaRPr sz="1300">
              <a:solidFill>
                <a:schemeClr val="dk1"/>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CF0"/>
        </a:solidFill>
        <a:effectLst/>
      </p:bgPr>
    </p:bg>
    <p:spTree>
      <p:nvGrpSpPr>
        <p:cNvPr id="1" name="Shape 169"/>
        <p:cNvGrpSpPr/>
        <p:nvPr/>
      </p:nvGrpSpPr>
      <p:grpSpPr>
        <a:xfrm>
          <a:off x="0" y="0"/>
          <a:ext cx="0" cy="0"/>
          <a:chOff x="0" y="0"/>
          <a:chExt cx="0" cy="0"/>
        </a:xfrm>
      </p:grpSpPr>
      <p:sp>
        <p:nvSpPr>
          <p:cNvPr id="170" name="Google Shape;170;p24"/>
          <p:cNvSpPr txBox="1"/>
          <p:nvPr/>
        </p:nvSpPr>
        <p:spPr>
          <a:xfrm>
            <a:off x="1169475" y="1192000"/>
            <a:ext cx="6693600" cy="851100"/>
          </a:xfrm>
          <a:prstGeom prst="rect">
            <a:avLst/>
          </a:prstGeom>
          <a:noFill/>
          <a:ln>
            <a:noFill/>
          </a:ln>
        </p:spPr>
        <p:txBody>
          <a:bodyPr spcFirstLastPara="1" wrap="square" lIns="91425" tIns="91425" rIns="91425" bIns="91425" anchor="t" anchorCtr="0">
            <a:noAutofit/>
          </a:bodyPr>
          <a:lstStyle/>
          <a:p>
            <a:pPr marL="457200" lvl="0" indent="-355600" algn="l" rtl="0">
              <a:spcBef>
                <a:spcPts val="0"/>
              </a:spcBef>
              <a:spcAft>
                <a:spcPts val="0"/>
              </a:spcAft>
              <a:buSzPts val="2000"/>
              <a:buFont typeface="Poppins"/>
              <a:buAutoNum type="arabicPeriod"/>
            </a:pPr>
            <a:r>
              <a:rPr lang="en" sz="2000" u="sng">
                <a:solidFill>
                  <a:schemeClr val="dk1"/>
                </a:solidFill>
                <a:latin typeface="Poppins"/>
                <a:ea typeface="Poppins"/>
                <a:cs typeface="Poppins"/>
                <a:sym typeface="Poppins"/>
                <a:hlinkClick r:id="rId3">
                  <a:extLst>
                    <a:ext uri="{A12FA001-AC4F-418D-AE19-62706E023703}">
                      <ahyp:hlinkClr xmlns:ahyp="http://schemas.microsoft.com/office/drawing/2018/hyperlinkcolor" val="tx"/>
                    </a:ext>
                  </a:extLst>
                </a:hlinkClick>
              </a:rPr>
              <a:t>Installed Capacity Per Grid</a:t>
            </a:r>
            <a:endParaRPr/>
          </a:p>
          <a:p>
            <a:pPr marL="457200" lvl="0" indent="-355600" algn="l" rtl="0">
              <a:spcBef>
                <a:spcPts val="0"/>
              </a:spcBef>
              <a:spcAft>
                <a:spcPts val="0"/>
              </a:spcAft>
              <a:buSzPts val="2000"/>
              <a:buFont typeface="Poppins"/>
              <a:buAutoNum type="arabicPeriod"/>
            </a:pPr>
            <a:r>
              <a:rPr lang="en" sz="2000" u="sng">
                <a:solidFill>
                  <a:schemeClr val="dk1"/>
                </a:solidFill>
                <a:latin typeface="Poppins"/>
                <a:ea typeface="Poppins"/>
                <a:cs typeface="Poppins"/>
                <a:sym typeface="Poppins"/>
                <a:hlinkClick r:id="rId4">
                  <a:extLst>
                    <a:ext uri="{A12FA001-AC4F-418D-AE19-62706E023703}">
                      <ahyp:hlinkClr xmlns:ahyp="http://schemas.microsoft.com/office/drawing/2018/hyperlinkcolor" val="tx"/>
                    </a:ext>
                  </a:extLst>
                </a:hlinkClick>
              </a:rPr>
              <a:t>Gross Power Generation</a:t>
            </a:r>
            <a:endParaRPr sz="2000">
              <a:solidFill>
                <a:schemeClr val="dk1"/>
              </a:solidFill>
              <a:latin typeface="Poppins"/>
              <a:ea typeface="Poppins"/>
              <a:cs typeface="Poppins"/>
              <a:sym typeface="Poppins"/>
            </a:endParaRPr>
          </a:p>
        </p:txBody>
      </p:sp>
      <p:sp>
        <p:nvSpPr>
          <p:cNvPr id="171" name="Google Shape;171;p24"/>
          <p:cNvSpPr txBox="1"/>
          <p:nvPr/>
        </p:nvSpPr>
        <p:spPr>
          <a:xfrm>
            <a:off x="1169475" y="425700"/>
            <a:ext cx="2248800" cy="54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200" b="1">
                <a:latin typeface="Poppins"/>
                <a:ea typeface="Poppins"/>
                <a:cs typeface="Poppins"/>
                <a:sym typeface="Poppins"/>
              </a:rPr>
              <a:t>Sources</a:t>
            </a:r>
            <a:endParaRPr sz="3200" b="1">
              <a:solidFill>
                <a:schemeClr val="dk1"/>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568</Words>
  <Application>Microsoft Office PowerPoint</Application>
  <PresentationFormat>On-screen Show (16:9)</PresentationFormat>
  <Paragraphs>60</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Roboto</vt:lpstr>
      <vt:lpstr>Poppins</vt:lpstr>
      <vt:lpstr>Arial</vt:lpstr>
      <vt:lpstr>Segoe UI</vt:lpstr>
      <vt:lpstr>Geometric</vt:lpstr>
      <vt:lpstr>Philippine Energy  Landscape:  Transitioning Towards  Renewable Energy  A 20-Year Look at Electricity Generation &amp; Installed Capacity (2003–2023)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GUTIERREZ, SYRUS MAC</cp:lastModifiedBy>
  <cp:revision>1</cp:revision>
  <dcterms:modified xsi:type="dcterms:W3CDTF">2025-11-20T10:00:26Z</dcterms:modified>
</cp:coreProperties>
</file>